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9" r:id="rId1"/>
  </p:sldMasterIdLst>
  <p:notesMasterIdLst>
    <p:notesMasterId r:id="rId16"/>
  </p:notesMasterIdLst>
  <p:handoutMasterIdLst>
    <p:handoutMasterId r:id="rId17"/>
  </p:handoutMasterIdLst>
  <p:sldIdLst>
    <p:sldId id="256" r:id="rId2"/>
    <p:sldId id="259" r:id="rId3"/>
    <p:sldId id="266" r:id="rId4"/>
    <p:sldId id="267" r:id="rId5"/>
    <p:sldId id="268" r:id="rId6"/>
    <p:sldId id="274" r:id="rId7"/>
    <p:sldId id="261" r:id="rId8"/>
    <p:sldId id="265" r:id="rId9"/>
    <p:sldId id="260" r:id="rId10"/>
    <p:sldId id="270" r:id="rId11"/>
    <p:sldId id="271" r:id="rId12"/>
    <p:sldId id="273" r:id="rId13"/>
    <p:sldId id="257" r:id="rId14"/>
    <p:sldId id="262" r:id="rId15"/>
  </p:sldIdLst>
  <p:sldSz cx="12192000" cy="6858000"/>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FE5"/>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53" autoAdjust="0"/>
    <p:restoredTop sz="85132" autoAdjust="0"/>
  </p:normalViewPr>
  <p:slideViewPr>
    <p:cSldViewPr snapToGrid="0">
      <p:cViewPr varScale="1">
        <p:scale>
          <a:sx n="91" d="100"/>
          <a:sy n="91" d="100"/>
        </p:scale>
        <p:origin x="485" y="77"/>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齋藤 康人" userId="ee0c1c06-490e-47a5-a885-6f02e801bb5b" providerId="ADAL" clId="{579B5798-0F80-42F7-A2E6-1C2FBFF70FBF}"/>
    <pc:docChg chg="modSld">
      <pc:chgData name="齋藤 康人" userId="ee0c1c06-490e-47a5-a885-6f02e801bb5b" providerId="ADAL" clId="{579B5798-0F80-42F7-A2E6-1C2FBFF70FBF}" dt="2023-11-21T02:31:29.346" v="22" actId="20577"/>
      <pc:docMkLst>
        <pc:docMk/>
      </pc:docMkLst>
      <pc:sldChg chg="modSp mod">
        <pc:chgData name="齋藤 康人" userId="ee0c1c06-490e-47a5-a885-6f02e801bb5b" providerId="ADAL" clId="{579B5798-0F80-42F7-A2E6-1C2FBFF70FBF}" dt="2023-11-21T02:31:29.346" v="22" actId="20577"/>
        <pc:sldMkLst>
          <pc:docMk/>
          <pc:sldMk cId="3078511027" sldId="259"/>
        </pc:sldMkLst>
        <pc:spChg chg="mod">
          <ac:chgData name="齋藤 康人" userId="ee0c1c06-490e-47a5-a885-6f02e801bb5b" providerId="ADAL" clId="{579B5798-0F80-42F7-A2E6-1C2FBFF70FBF}" dt="2023-11-21T02:31:29.346" v="22" actId="20577"/>
          <ac:spMkLst>
            <pc:docMk/>
            <pc:sldMk cId="3078511027" sldId="259"/>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ACC5D734-D654-4061-89A5-D14C8BAC960E}" type="datetimeFigureOut">
              <a:rPr kumimoji="1" lang="ja-JP" altLang="en-US" smtClean="0"/>
              <a:t>2023/11/21</a:t>
            </a:fld>
            <a:endParaRPr kumimoji="1" lang="ja-JP" altLang="en-US"/>
          </a:p>
        </p:txBody>
      </p:sp>
      <p:sp>
        <p:nvSpPr>
          <p:cNvPr id="4" name="フッター プレースホルダー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CA2E5820-7A0D-4210-B36C-B52045324210}" type="slidenum">
              <a:rPr kumimoji="1" lang="ja-JP" altLang="en-US" smtClean="0"/>
              <a:t>‹#›</a:t>
            </a:fld>
            <a:endParaRPr kumimoji="1" lang="ja-JP" altLang="en-US"/>
          </a:p>
        </p:txBody>
      </p:sp>
    </p:spTree>
    <p:extLst>
      <p:ext uri="{BB962C8B-B14F-4D97-AF65-F5344CB8AC3E}">
        <p14:creationId xmlns:p14="http://schemas.microsoft.com/office/powerpoint/2010/main" val="2919761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1F9AFBDE-32AA-421F-AA51-14B40194D1C6}" type="datetimeFigureOut">
              <a:rPr kumimoji="1" lang="ja-JP" altLang="en-US" smtClean="0"/>
              <a:t>2023/11/21</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21EBDD8-7D7E-4662-9286-A86BEE7388D0}" type="slidenum">
              <a:rPr kumimoji="1" lang="ja-JP" altLang="en-US" smtClean="0"/>
              <a:t>‹#›</a:t>
            </a:fld>
            <a:endParaRPr kumimoji="1" lang="ja-JP" altLang="en-US"/>
          </a:p>
        </p:txBody>
      </p:sp>
    </p:spTree>
    <p:extLst>
      <p:ext uri="{BB962C8B-B14F-4D97-AF65-F5344CB8AC3E}">
        <p14:creationId xmlns:p14="http://schemas.microsoft.com/office/powerpoint/2010/main" val="17032191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a:t>
            </a:fld>
            <a:endParaRPr kumimoji="1" lang="ja-JP" altLang="en-US"/>
          </a:p>
        </p:txBody>
      </p:sp>
    </p:spTree>
    <p:extLst>
      <p:ext uri="{BB962C8B-B14F-4D97-AF65-F5344CB8AC3E}">
        <p14:creationId xmlns:p14="http://schemas.microsoft.com/office/powerpoint/2010/main" val="3905242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3</a:t>
            </a:fld>
            <a:endParaRPr kumimoji="1" lang="ja-JP" altLang="en-US"/>
          </a:p>
        </p:txBody>
      </p:sp>
    </p:spTree>
    <p:extLst>
      <p:ext uri="{BB962C8B-B14F-4D97-AF65-F5344CB8AC3E}">
        <p14:creationId xmlns:p14="http://schemas.microsoft.com/office/powerpoint/2010/main" val="111924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4</a:t>
            </a:fld>
            <a:endParaRPr kumimoji="1" lang="ja-JP" altLang="en-US"/>
          </a:p>
        </p:txBody>
      </p:sp>
    </p:spTree>
    <p:extLst>
      <p:ext uri="{BB962C8B-B14F-4D97-AF65-F5344CB8AC3E}">
        <p14:creationId xmlns:p14="http://schemas.microsoft.com/office/powerpoint/2010/main" val="1246669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7</a:t>
            </a:fld>
            <a:endParaRPr kumimoji="1" lang="ja-JP" altLang="en-US"/>
          </a:p>
        </p:txBody>
      </p:sp>
    </p:spTree>
    <p:extLst>
      <p:ext uri="{BB962C8B-B14F-4D97-AF65-F5344CB8AC3E}">
        <p14:creationId xmlns:p14="http://schemas.microsoft.com/office/powerpoint/2010/main" val="1966620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8</a:t>
            </a:fld>
            <a:endParaRPr kumimoji="1" lang="ja-JP" altLang="en-US"/>
          </a:p>
        </p:txBody>
      </p:sp>
    </p:spTree>
    <p:extLst>
      <p:ext uri="{BB962C8B-B14F-4D97-AF65-F5344CB8AC3E}">
        <p14:creationId xmlns:p14="http://schemas.microsoft.com/office/powerpoint/2010/main" val="2893970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9</a:t>
            </a:fld>
            <a:endParaRPr kumimoji="1" lang="ja-JP" altLang="en-US"/>
          </a:p>
        </p:txBody>
      </p:sp>
    </p:spTree>
    <p:extLst>
      <p:ext uri="{BB962C8B-B14F-4D97-AF65-F5344CB8AC3E}">
        <p14:creationId xmlns:p14="http://schemas.microsoft.com/office/powerpoint/2010/main" val="2476139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10</a:t>
            </a:fld>
            <a:endParaRPr kumimoji="1" lang="ja-JP" altLang="en-US"/>
          </a:p>
        </p:txBody>
      </p:sp>
    </p:spTree>
    <p:extLst>
      <p:ext uri="{BB962C8B-B14F-4D97-AF65-F5344CB8AC3E}">
        <p14:creationId xmlns:p14="http://schemas.microsoft.com/office/powerpoint/2010/main" val="2272276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11</a:t>
            </a:fld>
            <a:endParaRPr kumimoji="1" lang="ja-JP" altLang="en-US"/>
          </a:p>
        </p:txBody>
      </p:sp>
    </p:spTree>
    <p:extLst>
      <p:ext uri="{BB962C8B-B14F-4D97-AF65-F5344CB8AC3E}">
        <p14:creationId xmlns:p14="http://schemas.microsoft.com/office/powerpoint/2010/main" val="217280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12</a:t>
            </a:fld>
            <a:endParaRPr kumimoji="1" lang="ja-JP" altLang="en-US"/>
          </a:p>
        </p:txBody>
      </p:sp>
    </p:spTree>
    <p:extLst>
      <p:ext uri="{BB962C8B-B14F-4D97-AF65-F5344CB8AC3E}">
        <p14:creationId xmlns:p14="http://schemas.microsoft.com/office/powerpoint/2010/main" val="1959277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13</a:t>
            </a:fld>
            <a:endParaRPr kumimoji="1" lang="ja-JP" altLang="en-US"/>
          </a:p>
        </p:txBody>
      </p:sp>
    </p:spTree>
    <p:extLst>
      <p:ext uri="{BB962C8B-B14F-4D97-AF65-F5344CB8AC3E}">
        <p14:creationId xmlns:p14="http://schemas.microsoft.com/office/powerpoint/2010/main" val="3401224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21EBDD8-7D7E-4662-9286-A86BEE7388D0}" type="slidenum">
              <a:rPr kumimoji="1" lang="ja-JP" altLang="en-US" smtClean="0"/>
              <a:t>14</a:t>
            </a:fld>
            <a:endParaRPr kumimoji="1" lang="ja-JP" altLang="en-US"/>
          </a:p>
        </p:txBody>
      </p:sp>
    </p:spTree>
    <p:extLst>
      <p:ext uri="{BB962C8B-B14F-4D97-AF65-F5344CB8AC3E}">
        <p14:creationId xmlns:p14="http://schemas.microsoft.com/office/powerpoint/2010/main" val="87459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C8CE0C3-53BB-485D-AC53-A17A6C74F80D}" type="datetime1">
              <a:rPr lang="en-US" altLang="ja-JP" smtClean="0"/>
              <a:t>11/21/2023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267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DC3DE86-87B9-4193-8698-3FE223CC9126}" type="datetime1">
              <a:rPr lang="en-US" altLang="ja-JP" smtClean="0"/>
              <a:t>11/21/2023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414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9470D66-E854-4A4B-950A-1C3F48C6E8A5}" type="datetime1">
              <a:rPr lang="en-US" altLang="ja-JP" smtClean="0"/>
              <a:t>11/21/2023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62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05685D1-F1A3-4F75-928D-02895B62042C}" type="datetime1">
              <a:rPr lang="en-US" altLang="ja-JP" smtClean="0"/>
              <a:t>11/21/2023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6937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65B1535-ADDB-4C90-8EA3-6E79180A6393}" type="datetime1">
              <a:rPr lang="en-US" altLang="ja-JP" smtClean="0"/>
              <a:t>11/21/2023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8802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649831"/>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3F84D9E-9F27-4A28-8C87-6FB9212981DE}" type="datetime1">
              <a:rPr lang="en-US" altLang="ja-JP" smtClean="0"/>
              <a:t>11/21/2023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521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DF1C57-203A-4F39-BFAD-F0DF4F144EFB}" type="datetime1">
              <a:rPr lang="en-US" altLang="ja-JP" smtClean="0"/>
              <a:t>11/21/2023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543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79F4BE9-7A0E-4D9B-936C-69A65477DA45}" type="datetime1">
              <a:rPr lang="en-US" altLang="ja-JP" smtClean="0"/>
              <a:t>11/21/2023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45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23DECC7-3806-4CF8-8D98-1A34CA6377EB}" type="datetime1">
              <a:rPr lang="en-US" altLang="ja-JP" smtClean="0"/>
              <a:t>11/21/2023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168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BB000B0-DDD1-4E8F-B801-1E32FA875235}" type="datetime1">
              <a:rPr lang="en-US" altLang="ja-JP" smtClean="0"/>
              <a:t>11/21/2023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486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C1AAC32-2146-4B90-A5F6-5F28927CBBE2}" type="datetime1">
              <a:rPr lang="en-US" altLang="ja-JP" smtClean="0"/>
              <a:t>11/21/2023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15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4"/>
            <a:ext cx="10058400" cy="815084"/>
          </a:xfrm>
          <a:prstGeom prst="rect">
            <a:avLst/>
          </a:prstGeom>
        </p:spPr>
        <p:txBody>
          <a:bodyPr vert="horz" lIns="91440" tIns="45720" rIns="91440" bIns="45720" rtlCol="0" anchor="b">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097280" y="1168871"/>
            <a:ext cx="10058400" cy="4700223"/>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3C22001-3594-4147-9609-6A63715CAF5C}" type="datetime1">
              <a:rPr lang="en-US" altLang="ja-JP" smtClean="0"/>
              <a:t>11/21/2023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10988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8629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フードサービス業</a:t>
            </a:r>
            <a:br>
              <a:rPr kumimoji="1" lang="en-US" altLang="ja-JP" dirty="0"/>
            </a:br>
            <a:r>
              <a:rPr lang="ja-JP" altLang="en-US" dirty="0"/>
              <a:t>　　店舗・組織診断</a:t>
            </a:r>
            <a:endParaRPr kumimoji="1" lang="ja-JP" altLang="en-US" dirty="0"/>
          </a:p>
        </p:txBody>
      </p:sp>
      <p:sp>
        <p:nvSpPr>
          <p:cNvPr id="3" name="サブタイトル 2"/>
          <p:cNvSpPr>
            <a:spLocks noGrp="1"/>
          </p:cNvSpPr>
          <p:nvPr>
            <p:ph type="subTitle" idx="1"/>
          </p:nvPr>
        </p:nvSpPr>
        <p:spPr/>
        <p:txBody>
          <a:bodyPr>
            <a:normAutofit/>
          </a:bodyPr>
          <a:lstStyle/>
          <a:p>
            <a:pPr algn="ctr"/>
            <a:r>
              <a:rPr lang="ja-JP" altLang="en-US" dirty="0"/>
              <a:t>仕事に対する積極性（行動）を促す</a:t>
            </a:r>
            <a:endParaRPr lang="en-US" altLang="ja-JP" dirty="0"/>
          </a:p>
          <a:p>
            <a:pPr algn="ctr"/>
            <a:r>
              <a:rPr lang="ja-JP" altLang="en-US" dirty="0"/>
              <a:t>職務設計と職場環境づくりの指針</a:t>
            </a:r>
            <a:endParaRPr kumimoji="1" lang="ja-JP" altLang="en-US" dirty="0"/>
          </a:p>
        </p:txBody>
      </p:sp>
      <p:sp>
        <p:nvSpPr>
          <p:cNvPr id="4" name="正方形/長方形 3"/>
          <p:cNvSpPr/>
          <p:nvPr/>
        </p:nvSpPr>
        <p:spPr>
          <a:xfrm>
            <a:off x="1097280" y="1400294"/>
            <a:ext cx="4427815" cy="523220"/>
          </a:xfrm>
          <a:prstGeom prst="rect">
            <a:avLst/>
          </a:prstGeom>
        </p:spPr>
        <p:txBody>
          <a:bodyPr wrap="none">
            <a:spAutoFit/>
          </a:bodyPr>
          <a:lstStyle/>
          <a:p>
            <a:r>
              <a:rPr kumimoji="1" lang="ja-JP" altLang="en-US" sz="2800" dirty="0">
                <a:latin typeface="+mj-ea"/>
                <a:ea typeface="+mj-ea"/>
              </a:rPr>
              <a:t>顧客対応型文化を生み出す</a:t>
            </a:r>
          </a:p>
        </p:txBody>
      </p:sp>
    </p:spTree>
    <p:extLst>
      <p:ext uri="{BB962C8B-B14F-4D97-AF65-F5344CB8AC3E}">
        <p14:creationId xmlns:p14="http://schemas.microsoft.com/office/powerpoint/2010/main" val="123306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はじめに</a:t>
            </a:r>
          </a:p>
        </p:txBody>
      </p:sp>
      <p:sp>
        <p:nvSpPr>
          <p:cNvPr id="3" name="Rectangle 5"/>
          <p:cNvSpPr>
            <a:spLocks noChangeArrowheads="1"/>
          </p:cNvSpPr>
          <p:nvPr/>
        </p:nvSpPr>
        <p:spPr bwMode="auto">
          <a:xfrm>
            <a:off x="448056" y="1235676"/>
            <a:ext cx="11142583" cy="4992129"/>
          </a:xfrm>
          <a:prstGeom prst="rect">
            <a:avLst/>
          </a:prstGeom>
          <a:ln/>
        </p:spPr>
        <p:style>
          <a:lnRef idx="2">
            <a:schemeClr val="accent4"/>
          </a:lnRef>
          <a:fillRef idx="1">
            <a:schemeClr val="lt1"/>
          </a:fillRef>
          <a:effectRef idx="0">
            <a:schemeClr val="accent4"/>
          </a:effectRef>
          <a:fontRef idx="minor">
            <a:schemeClr val="dk1"/>
          </a:fontRef>
        </p:style>
        <p:txBody>
          <a:bodyPr/>
          <a:lstStyle>
            <a:lvl1pPr indent="176213"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lnSpc>
                <a:spcPct val="128000"/>
              </a:lnSpc>
            </a:pPr>
            <a:r>
              <a:rPr lang="ja-JP" altLang="en-US" sz="1500" dirty="0">
                <a:latin typeface="游ゴシック Medium" panose="020B0500000000000000" pitchFamily="50" charset="-128"/>
                <a:ea typeface="游ゴシック Medium" panose="020B0500000000000000" pitchFamily="50" charset="-128"/>
              </a:rPr>
              <a:t>昨今のフードサービス業界は、「採用難・離職増による人材不足、</a:t>
            </a:r>
            <a:r>
              <a:rPr lang="ja-JP" altLang="en-US" sz="1500">
                <a:latin typeface="游ゴシック Medium" panose="020B0500000000000000" pitchFamily="50" charset="-128"/>
                <a:ea typeface="游ゴシック Medium" panose="020B0500000000000000" pitchFamily="50" charset="-128"/>
              </a:rPr>
              <a:t>スタッフ時給の</a:t>
            </a:r>
            <a:r>
              <a:rPr lang="ja-JP" altLang="en-US" sz="1500" dirty="0">
                <a:latin typeface="游ゴシック Medium" panose="020B0500000000000000" pitchFamily="50" charset="-128"/>
                <a:ea typeface="游ゴシック Medium" panose="020B0500000000000000" pitchFamily="50" charset="-128"/>
              </a:rPr>
              <a:t>高騰」といった人に関する問題が企業経営に大きな影響を及ぼしており、組織的な生産性の向上が重要かつ火急の課題となっています。</a:t>
            </a:r>
            <a:endParaRPr lang="en-US" altLang="ja-JP" sz="1500" dirty="0">
              <a:latin typeface="游ゴシック Medium" panose="020B0500000000000000" pitchFamily="50" charset="-128"/>
              <a:ea typeface="游ゴシック Medium" panose="020B0500000000000000" pitchFamily="50" charset="-128"/>
            </a:endParaRPr>
          </a:p>
          <a:p>
            <a:pPr eaLnBrk="1" hangingPunct="1">
              <a:lnSpc>
                <a:spcPct val="128000"/>
              </a:lnSpc>
              <a:spcBef>
                <a:spcPts val="600"/>
              </a:spcBef>
            </a:pPr>
            <a:r>
              <a:rPr lang="ja-JP" altLang="en-US" sz="1500" dirty="0">
                <a:latin typeface="游ゴシック Medium" panose="020B0500000000000000" pitchFamily="50" charset="-128"/>
                <a:ea typeface="游ゴシック Medium" panose="020B0500000000000000" pitchFamily="50" charset="-128"/>
              </a:rPr>
              <a:t>これまで、従業員の意識調査や満足度調査に代表される「モラール･サーベイ」は多くの企業で取り組まれ、従業員の全体的な不満要素を取り除くことを目的に人事・評価制度の見直しや福利厚生の充実等の施策が講じられてきました。</a:t>
            </a:r>
            <a:endParaRPr lang="en-US" altLang="ja-JP" sz="1500" dirty="0">
              <a:latin typeface="游ゴシック Medium" panose="020B0500000000000000" pitchFamily="50" charset="-128"/>
              <a:ea typeface="游ゴシック Medium" panose="020B0500000000000000" pitchFamily="50" charset="-128"/>
            </a:endParaRPr>
          </a:p>
          <a:p>
            <a:pPr eaLnBrk="1" hangingPunct="1">
              <a:lnSpc>
                <a:spcPct val="128000"/>
              </a:lnSpc>
              <a:spcBef>
                <a:spcPts val="600"/>
              </a:spcBef>
            </a:pPr>
            <a:r>
              <a:rPr lang="ja-JP" altLang="en-US" sz="1500" dirty="0">
                <a:latin typeface="游ゴシック Medium" panose="020B0500000000000000" pitchFamily="50" charset="-128"/>
                <a:ea typeface="游ゴシック Medium" panose="020B0500000000000000" pitchFamily="50" charset="-128"/>
              </a:rPr>
              <a:t>近年では、特に若年層における価値観の多様化を鑑み、店舗単位または従業員個人に対するアプローチへと調査の方向性が移り変わってきています。具体的には、店長のスタッフへの関わり方（リーダーシップ、普段からの声かけ、細やかな評価と面談、手厚いＯＪＴ）や職場内コミュニケーション、雰囲気といったテーマがクローズアップされるようになりました。しかしながらそうしたテーマは、店舗に対する会社側の支援不足や会社全体として検討すべき点を見えにくくし、店舗内という狭い範囲での問題解決事項として認識されることとなり、店長を始めとしたマネジャー職に過度な負荷がかかっている現状も少なくありません。</a:t>
            </a:r>
            <a:endParaRPr lang="en-US" altLang="ja-JP" sz="1500" dirty="0">
              <a:latin typeface="游ゴシック Medium" panose="020B0500000000000000" pitchFamily="50" charset="-128"/>
              <a:ea typeface="游ゴシック Medium" panose="020B0500000000000000" pitchFamily="50" charset="-128"/>
            </a:endParaRPr>
          </a:p>
          <a:p>
            <a:pPr eaLnBrk="1" hangingPunct="1">
              <a:lnSpc>
                <a:spcPct val="128000"/>
              </a:lnSpc>
              <a:spcBef>
                <a:spcPts val="600"/>
              </a:spcBef>
            </a:pPr>
            <a:r>
              <a:rPr lang="ja-JP" altLang="en-US" sz="1500" dirty="0">
                <a:latin typeface="游ゴシック Medium" panose="020B0500000000000000" pitchFamily="50" charset="-128"/>
                <a:ea typeface="游ゴシック Medium" panose="020B0500000000000000" pitchFamily="50" charset="-128"/>
              </a:rPr>
              <a:t>このような事態を脱却し、業績向上のため店長を始めとしたチーム（店舗）が一丸となってお客様満足へ邁進するには、メンバー個人の高い満足度と積極的な貢献行動はもとより、職場（店舗）環境の充実、そして会社からの支援といった、組織全体としての「あるべき環境を整備していくこと」が求められているのではないでしょうか。</a:t>
            </a:r>
            <a:endParaRPr lang="en-US" altLang="ja-JP" sz="1500" dirty="0">
              <a:latin typeface="游ゴシック Medium" panose="020B0500000000000000" pitchFamily="50" charset="-128"/>
              <a:ea typeface="游ゴシック Medium" panose="020B0500000000000000" pitchFamily="50" charset="-128"/>
            </a:endParaRPr>
          </a:p>
          <a:p>
            <a:pPr eaLnBrk="1" hangingPunct="1">
              <a:lnSpc>
                <a:spcPct val="128000"/>
              </a:lnSpc>
              <a:spcBef>
                <a:spcPts val="600"/>
              </a:spcBef>
            </a:pPr>
            <a:r>
              <a:rPr lang="ja-JP" altLang="en-US" sz="1500" dirty="0">
                <a:latin typeface="游ゴシック Medium" panose="020B0500000000000000" pitchFamily="50" charset="-128"/>
                <a:ea typeface="游ゴシック Medium" panose="020B0500000000000000" pitchFamily="50" charset="-128"/>
              </a:rPr>
              <a:t>本診断は、満足度の指標のみを目的とせず、業績向上に資する「行動」へと導くために必要な「あるべき組織（職場）環境の整備」と合わせて改善を図ることを目的に設計されています。</a:t>
            </a:r>
            <a:endParaRPr lang="en-US" altLang="ja-JP" sz="1500" dirty="0">
              <a:latin typeface="游ゴシック Medium" panose="020B0500000000000000" pitchFamily="50" charset="-128"/>
              <a:ea typeface="游ゴシック Medium" panose="020B0500000000000000" pitchFamily="50" charset="-128"/>
            </a:endParaRPr>
          </a:p>
        </p:txBody>
      </p:sp>
      <p:sp>
        <p:nvSpPr>
          <p:cNvPr id="4" name="スライド番号プレースホルダー 3"/>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07851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診断のコンセプト</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3</a:t>
            </a:fld>
            <a:endParaRPr lang="en-US" dirty="0"/>
          </a:p>
        </p:txBody>
      </p:sp>
      <p:sp>
        <p:nvSpPr>
          <p:cNvPr id="22" name="正方形/長方形 21"/>
          <p:cNvSpPr/>
          <p:nvPr/>
        </p:nvSpPr>
        <p:spPr>
          <a:xfrm>
            <a:off x="640987" y="1158273"/>
            <a:ext cx="10970986" cy="101566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63525" indent="-263525"/>
            <a:r>
              <a:rPr kumimoji="1" lang="ja-JP" altLang="en-US" sz="2000" dirty="0">
                <a:latin typeface="ＭＳ ゴシック" panose="020B0609070205080204" pitchFamily="49" charset="-128"/>
                <a:ea typeface="ＭＳ ゴシック" panose="020B0609070205080204" pitchFamily="49" charset="-128"/>
              </a:rPr>
              <a:t>●　業績向上のための要因を３つのコンセプトと７つのカテゴリーに分類</a:t>
            </a:r>
            <a:endParaRPr kumimoji="1" lang="en-US" altLang="ja-JP" sz="2000" dirty="0">
              <a:latin typeface="ＭＳ ゴシック" panose="020B0609070205080204" pitchFamily="49" charset="-128"/>
              <a:ea typeface="ＭＳ ゴシック" panose="020B0609070205080204" pitchFamily="49" charset="-128"/>
            </a:endParaRPr>
          </a:p>
          <a:p>
            <a:pPr marL="263525" indent="-263525"/>
            <a:r>
              <a:rPr kumimoji="1" lang="ja-JP" altLang="en-US" sz="2000" dirty="0">
                <a:latin typeface="ＭＳ ゴシック" panose="020B0609070205080204" pitchFamily="49" charset="-128"/>
                <a:ea typeface="ＭＳ ゴシック" panose="020B0609070205080204" pitchFamily="49" charset="-128"/>
              </a:rPr>
              <a:t>●　それぞれのカテゴリーに影響を及ぼす要素（次頁）を調査し、ギャップを把握</a:t>
            </a:r>
            <a:endParaRPr kumimoji="1" lang="en-US" altLang="ja-JP" sz="2000" dirty="0">
              <a:latin typeface="ＭＳ ゴシック" panose="020B0609070205080204" pitchFamily="49" charset="-128"/>
              <a:ea typeface="ＭＳ ゴシック" panose="020B0609070205080204" pitchFamily="49" charset="-128"/>
            </a:endParaRPr>
          </a:p>
          <a:p>
            <a:pPr marL="263525" indent="-263525"/>
            <a:r>
              <a:rPr kumimoji="1" lang="ja-JP" altLang="en-US" sz="2000" dirty="0">
                <a:latin typeface="ＭＳ ゴシック" panose="020B0609070205080204" pitchFamily="49" charset="-128"/>
                <a:ea typeface="ＭＳ ゴシック" panose="020B0609070205080204" pitchFamily="49" charset="-128"/>
              </a:rPr>
              <a:t>●　全体最適を目指し、改善が必要な要素に優先順位をつけて提示</a:t>
            </a:r>
            <a:endParaRPr kumimoji="1" lang="en-US" altLang="ja-JP" sz="2000" dirty="0">
              <a:latin typeface="ＭＳ ゴシック" panose="020B0609070205080204" pitchFamily="49" charset="-128"/>
              <a:ea typeface="ＭＳ ゴシック" panose="020B0609070205080204" pitchFamily="49" charset="-128"/>
            </a:endParaRPr>
          </a:p>
        </p:txBody>
      </p:sp>
      <p:grpSp>
        <p:nvGrpSpPr>
          <p:cNvPr id="27" name="グループ化 26"/>
          <p:cNvGrpSpPr/>
          <p:nvPr/>
        </p:nvGrpSpPr>
        <p:grpSpPr>
          <a:xfrm>
            <a:off x="1469450" y="2318657"/>
            <a:ext cx="9370190" cy="4016829"/>
            <a:chOff x="1469450" y="2318657"/>
            <a:chExt cx="9370190" cy="4016829"/>
          </a:xfrm>
        </p:grpSpPr>
        <p:grpSp>
          <p:nvGrpSpPr>
            <p:cNvPr id="21" name="グループ化 20"/>
            <p:cNvGrpSpPr/>
            <p:nvPr/>
          </p:nvGrpSpPr>
          <p:grpSpPr>
            <a:xfrm>
              <a:off x="1584466" y="2318657"/>
              <a:ext cx="9255174" cy="4016829"/>
              <a:chOff x="2032000" y="2242457"/>
              <a:chExt cx="9255174" cy="3102429"/>
            </a:xfrm>
          </p:grpSpPr>
          <p:grpSp>
            <p:nvGrpSpPr>
              <p:cNvPr id="13" name="グループ化 12"/>
              <p:cNvGrpSpPr/>
              <p:nvPr/>
            </p:nvGrpSpPr>
            <p:grpSpPr>
              <a:xfrm>
                <a:off x="2032000" y="2242457"/>
                <a:ext cx="8952907" cy="3102429"/>
                <a:chOff x="2032000" y="1648102"/>
                <a:chExt cx="8952907" cy="3575736"/>
              </a:xfrm>
            </p:grpSpPr>
            <p:sp>
              <p:nvSpPr>
                <p:cNvPr id="14" name="矢印: 右 13"/>
                <p:cNvSpPr/>
                <p:nvPr/>
              </p:nvSpPr>
              <p:spPr>
                <a:xfrm>
                  <a:off x="2641599" y="1648102"/>
                  <a:ext cx="8343308" cy="3575736"/>
                </a:xfrm>
                <a:prstGeom prst="rightArrow">
                  <a:avLst>
                    <a:gd name="adj1" fmla="val 68929"/>
                    <a:gd name="adj2" fmla="val 85088"/>
                  </a:avLst>
                </a:prstGeom>
              </p:spPr>
              <p:style>
                <a:lnRef idx="0">
                  <a:schemeClr val="dk1">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15" name="フリーフォーム: 図形 14"/>
                <p:cNvSpPr/>
                <p:nvPr/>
              </p:nvSpPr>
              <p:spPr>
                <a:xfrm>
                  <a:off x="2032000" y="2345266"/>
                  <a:ext cx="2503666" cy="2167466"/>
                </a:xfrm>
                <a:custGeom>
                  <a:avLst/>
                  <a:gdLst>
                    <a:gd name="connsiteX0" fmla="*/ 0 w 2438400"/>
                    <a:gd name="connsiteY0" fmla="*/ 361252 h 2167466"/>
                    <a:gd name="connsiteX1" fmla="*/ 361252 w 2438400"/>
                    <a:gd name="connsiteY1" fmla="*/ 0 h 2167466"/>
                    <a:gd name="connsiteX2" fmla="*/ 2077148 w 2438400"/>
                    <a:gd name="connsiteY2" fmla="*/ 0 h 2167466"/>
                    <a:gd name="connsiteX3" fmla="*/ 2438400 w 2438400"/>
                    <a:gd name="connsiteY3" fmla="*/ 361252 h 2167466"/>
                    <a:gd name="connsiteX4" fmla="*/ 2438400 w 2438400"/>
                    <a:gd name="connsiteY4" fmla="*/ 1806214 h 2167466"/>
                    <a:gd name="connsiteX5" fmla="*/ 2077148 w 2438400"/>
                    <a:gd name="connsiteY5" fmla="*/ 2167466 h 2167466"/>
                    <a:gd name="connsiteX6" fmla="*/ 361252 w 2438400"/>
                    <a:gd name="connsiteY6" fmla="*/ 2167466 h 2167466"/>
                    <a:gd name="connsiteX7" fmla="*/ 0 w 2438400"/>
                    <a:gd name="connsiteY7" fmla="*/ 1806214 h 2167466"/>
                    <a:gd name="connsiteX8" fmla="*/ 0 w 2438400"/>
                    <a:gd name="connsiteY8" fmla="*/ 361252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167466">
                      <a:moveTo>
                        <a:pt x="0" y="361252"/>
                      </a:moveTo>
                      <a:cubicBezTo>
                        <a:pt x="0" y="161738"/>
                        <a:pt x="161738" y="0"/>
                        <a:pt x="361252" y="0"/>
                      </a:cubicBezTo>
                      <a:lnTo>
                        <a:pt x="2077148" y="0"/>
                      </a:lnTo>
                      <a:cubicBezTo>
                        <a:pt x="2276662" y="0"/>
                        <a:pt x="2438400" y="161738"/>
                        <a:pt x="2438400" y="361252"/>
                      </a:cubicBezTo>
                      <a:lnTo>
                        <a:pt x="2438400" y="1806214"/>
                      </a:lnTo>
                      <a:cubicBezTo>
                        <a:pt x="2438400" y="2005728"/>
                        <a:pt x="2276662" y="2167466"/>
                        <a:pt x="2077148" y="2167466"/>
                      </a:cubicBezTo>
                      <a:lnTo>
                        <a:pt x="361252" y="2167466"/>
                      </a:lnTo>
                      <a:cubicBezTo>
                        <a:pt x="161738" y="2167466"/>
                        <a:pt x="0" y="2005728"/>
                        <a:pt x="0" y="1806214"/>
                      </a:cubicBezTo>
                      <a:lnTo>
                        <a:pt x="0" y="36125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0587" tIns="250587" rIns="250587" bIns="250587" numCol="1" spcCol="1270" anchor="ctr" anchorCtr="0">
                  <a:noAutofit/>
                </a:bodyPr>
                <a:lstStyle/>
                <a:p>
                  <a:pPr marL="0" lvl="0" indent="0" algn="ctr" defTabSz="1689100">
                    <a:lnSpc>
                      <a:spcPct val="90000"/>
                    </a:lnSpc>
                    <a:spcBef>
                      <a:spcPct val="0"/>
                    </a:spcBef>
                    <a:spcAft>
                      <a:spcPct val="35000"/>
                    </a:spcAft>
                    <a:buNone/>
                  </a:pPr>
                  <a:endParaRPr kumimoji="1" lang="ja-JP" altLang="en-US" sz="3800" kern="1200"/>
                </a:p>
              </p:txBody>
            </p:sp>
            <p:sp>
              <p:nvSpPr>
                <p:cNvPr id="16" name="フリーフォーム: 図形 15"/>
                <p:cNvSpPr/>
                <p:nvPr/>
              </p:nvSpPr>
              <p:spPr>
                <a:xfrm>
                  <a:off x="4793837" y="2345266"/>
                  <a:ext cx="2521361" cy="2167466"/>
                </a:xfrm>
                <a:custGeom>
                  <a:avLst/>
                  <a:gdLst>
                    <a:gd name="connsiteX0" fmla="*/ 0 w 2438400"/>
                    <a:gd name="connsiteY0" fmla="*/ 361252 h 2167466"/>
                    <a:gd name="connsiteX1" fmla="*/ 361252 w 2438400"/>
                    <a:gd name="connsiteY1" fmla="*/ 0 h 2167466"/>
                    <a:gd name="connsiteX2" fmla="*/ 2077148 w 2438400"/>
                    <a:gd name="connsiteY2" fmla="*/ 0 h 2167466"/>
                    <a:gd name="connsiteX3" fmla="*/ 2438400 w 2438400"/>
                    <a:gd name="connsiteY3" fmla="*/ 361252 h 2167466"/>
                    <a:gd name="connsiteX4" fmla="*/ 2438400 w 2438400"/>
                    <a:gd name="connsiteY4" fmla="*/ 1806214 h 2167466"/>
                    <a:gd name="connsiteX5" fmla="*/ 2077148 w 2438400"/>
                    <a:gd name="connsiteY5" fmla="*/ 2167466 h 2167466"/>
                    <a:gd name="connsiteX6" fmla="*/ 361252 w 2438400"/>
                    <a:gd name="connsiteY6" fmla="*/ 2167466 h 2167466"/>
                    <a:gd name="connsiteX7" fmla="*/ 0 w 2438400"/>
                    <a:gd name="connsiteY7" fmla="*/ 1806214 h 2167466"/>
                    <a:gd name="connsiteX8" fmla="*/ 0 w 2438400"/>
                    <a:gd name="connsiteY8" fmla="*/ 361252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167466">
                      <a:moveTo>
                        <a:pt x="0" y="361252"/>
                      </a:moveTo>
                      <a:cubicBezTo>
                        <a:pt x="0" y="161738"/>
                        <a:pt x="161738" y="0"/>
                        <a:pt x="361252" y="0"/>
                      </a:cubicBezTo>
                      <a:lnTo>
                        <a:pt x="2077148" y="0"/>
                      </a:lnTo>
                      <a:cubicBezTo>
                        <a:pt x="2276662" y="0"/>
                        <a:pt x="2438400" y="161738"/>
                        <a:pt x="2438400" y="361252"/>
                      </a:cubicBezTo>
                      <a:lnTo>
                        <a:pt x="2438400" y="1806214"/>
                      </a:lnTo>
                      <a:cubicBezTo>
                        <a:pt x="2438400" y="2005728"/>
                        <a:pt x="2276662" y="2167466"/>
                        <a:pt x="2077148" y="2167466"/>
                      </a:cubicBezTo>
                      <a:lnTo>
                        <a:pt x="361252" y="2167466"/>
                      </a:lnTo>
                      <a:cubicBezTo>
                        <a:pt x="161738" y="2167466"/>
                        <a:pt x="0" y="2005728"/>
                        <a:pt x="0" y="1806214"/>
                      </a:cubicBezTo>
                      <a:lnTo>
                        <a:pt x="0" y="36125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0587" tIns="250587" rIns="250587" bIns="250587" numCol="1" spcCol="1270" anchor="ctr" anchorCtr="0">
                  <a:noAutofit/>
                </a:bodyPr>
                <a:lstStyle/>
                <a:p>
                  <a:pPr marL="0" lvl="0" indent="0" algn="ctr" defTabSz="1689100">
                    <a:lnSpc>
                      <a:spcPct val="90000"/>
                    </a:lnSpc>
                    <a:spcBef>
                      <a:spcPct val="0"/>
                    </a:spcBef>
                    <a:spcAft>
                      <a:spcPct val="35000"/>
                    </a:spcAft>
                    <a:buNone/>
                  </a:pPr>
                  <a:endParaRPr kumimoji="1" lang="ja-JP" altLang="en-US" sz="3800" kern="1200"/>
                </a:p>
              </p:txBody>
            </p:sp>
            <p:sp>
              <p:nvSpPr>
                <p:cNvPr id="17" name="フリーフォーム: 図形 16"/>
                <p:cNvSpPr/>
                <p:nvPr/>
              </p:nvSpPr>
              <p:spPr>
                <a:xfrm>
                  <a:off x="7611546" y="2345266"/>
                  <a:ext cx="2548454" cy="2167466"/>
                </a:xfrm>
                <a:custGeom>
                  <a:avLst/>
                  <a:gdLst>
                    <a:gd name="connsiteX0" fmla="*/ 0 w 2438400"/>
                    <a:gd name="connsiteY0" fmla="*/ 361252 h 2167466"/>
                    <a:gd name="connsiteX1" fmla="*/ 361252 w 2438400"/>
                    <a:gd name="connsiteY1" fmla="*/ 0 h 2167466"/>
                    <a:gd name="connsiteX2" fmla="*/ 2077148 w 2438400"/>
                    <a:gd name="connsiteY2" fmla="*/ 0 h 2167466"/>
                    <a:gd name="connsiteX3" fmla="*/ 2438400 w 2438400"/>
                    <a:gd name="connsiteY3" fmla="*/ 361252 h 2167466"/>
                    <a:gd name="connsiteX4" fmla="*/ 2438400 w 2438400"/>
                    <a:gd name="connsiteY4" fmla="*/ 1806214 h 2167466"/>
                    <a:gd name="connsiteX5" fmla="*/ 2077148 w 2438400"/>
                    <a:gd name="connsiteY5" fmla="*/ 2167466 h 2167466"/>
                    <a:gd name="connsiteX6" fmla="*/ 361252 w 2438400"/>
                    <a:gd name="connsiteY6" fmla="*/ 2167466 h 2167466"/>
                    <a:gd name="connsiteX7" fmla="*/ 0 w 2438400"/>
                    <a:gd name="connsiteY7" fmla="*/ 1806214 h 2167466"/>
                    <a:gd name="connsiteX8" fmla="*/ 0 w 2438400"/>
                    <a:gd name="connsiteY8" fmla="*/ 361252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167466">
                      <a:moveTo>
                        <a:pt x="0" y="361252"/>
                      </a:moveTo>
                      <a:cubicBezTo>
                        <a:pt x="0" y="161738"/>
                        <a:pt x="161738" y="0"/>
                        <a:pt x="361252" y="0"/>
                      </a:cubicBezTo>
                      <a:lnTo>
                        <a:pt x="2077148" y="0"/>
                      </a:lnTo>
                      <a:cubicBezTo>
                        <a:pt x="2276662" y="0"/>
                        <a:pt x="2438400" y="161738"/>
                        <a:pt x="2438400" y="361252"/>
                      </a:cubicBezTo>
                      <a:lnTo>
                        <a:pt x="2438400" y="1806214"/>
                      </a:lnTo>
                      <a:cubicBezTo>
                        <a:pt x="2438400" y="2005728"/>
                        <a:pt x="2276662" y="2167466"/>
                        <a:pt x="2077148" y="2167466"/>
                      </a:cubicBezTo>
                      <a:lnTo>
                        <a:pt x="361252" y="2167466"/>
                      </a:lnTo>
                      <a:cubicBezTo>
                        <a:pt x="161738" y="2167466"/>
                        <a:pt x="0" y="2005728"/>
                        <a:pt x="0" y="1806214"/>
                      </a:cubicBezTo>
                      <a:lnTo>
                        <a:pt x="0" y="36125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50587" tIns="250587" rIns="250587" bIns="250587" numCol="1" spcCol="1270" anchor="ctr" anchorCtr="0">
                  <a:noAutofit/>
                </a:bodyPr>
                <a:lstStyle/>
                <a:p>
                  <a:pPr marL="0" lvl="0" indent="0" algn="ctr" defTabSz="1689100">
                    <a:lnSpc>
                      <a:spcPct val="90000"/>
                    </a:lnSpc>
                    <a:spcBef>
                      <a:spcPct val="0"/>
                    </a:spcBef>
                    <a:spcAft>
                      <a:spcPct val="35000"/>
                    </a:spcAft>
                    <a:buNone/>
                  </a:pPr>
                  <a:endParaRPr kumimoji="1" lang="ja-JP" altLang="en-US" sz="3800" kern="1200"/>
                </a:p>
              </p:txBody>
            </p:sp>
          </p:grpSp>
          <p:sp>
            <p:nvSpPr>
              <p:cNvPr id="4" name="楕円 3"/>
              <p:cNvSpPr/>
              <p:nvPr/>
            </p:nvSpPr>
            <p:spPr>
              <a:xfrm>
                <a:off x="2338386" y="3288975"/>
                <a:ext cx="1870008" cy="403999"/>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b="1" dirty="0"/>
                  <a:t>職務満足度</a:t>
                </a:r>
                <a:endParaRPr kumimoji="1" lang="en-US" altLang="ja-JP" sz="1600" b="1" dirty="0"/>
              </a:p>
            </p:txBody>
          </p:sp>
          <p:sp>
            <p:nvSpPr>
              <p:cNvPr id="5" name="楕円 4"/>
              <p:cNvSpPr/>
              <p:nvPr/>
            </p:nvSpPr>
            <p:spPr>
              <a:xfrm>
                <a:off x="7856434" y="3904854"/>
                <a:ext cx="1371600" cy="369417"/>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wrap="none" lIns="0" rIns="0" rtlCol="0" anchor="ctr"/>
              <a:lstStyle/>
              <a:p>
                <a:pPr algn="ctr"/>
                <a:r>
                  <a:rPr kumimoji="1" lang="ja-JP" altLang="en-US" sz="1600" b="1" dirty="0">
                    <a:solidFill>
                      <a:schemeClr val="tx1"/>
                    </a:solidFill>
                  </a:rPr>
                  <a:t>貢献意欲</a:t>
                </a:r>
              </a:p>
            </p:txBody>
          </p:sp>
          <p:sp>
            <p:nvSpPr>
              <p:cNvPr id="6" name="楕円 5"/>
              <p:cNvSpPr/>
              <p:nvPr/>
            </p:nvSpPr>
            <p:spPr>
              <a:xfrm>
                <a:off x="8720034" y="3531945"/>
                <a:ext cx="1371600" cy="372255"/>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wrap="none" lIns="0" rIns="0" rtlCol="0" anchor="ctr"/>
              <a:lstStyle/>
              <a:p>
                <a:pPr algn="ctr"/>
                <a:r>
                  <a:rPr kumimoji="1" lang="ja-JP" altLang="en-US" sz="1600" b="1" dirty="0">
                    <a:solidFill>
                      <a:schemeClr val="tx1"/>
                    </a:solidFill>
                  </a:rPr>
                  <a:t>勤続意思</a:t>
                </a:r>
              </a:p>
            </p:txBody>
          </p:sp>
          <p:sp>
            <p:nvSpPr>
              <p:cNvPr id="7" name="楕円 6"/>
              <p:cNvSpPr/>
              <p:nvPr/>
            </p:nvSpPr>
            <p:spPr>
              <a:xfrm>
                <a:off x="2339332" y="3818010"/>
                <a:ext cx="1870008" cy="403999"/>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b="1" dirty="0"/>
                  <a:t>会社満足度</a:t>
                </a:r>
                <a:endParaRPr kumimoji="1" lang="en-US" altLang="ja-JP" sz="1600" b="1" dirty="0"/>
              </a:p>
            </p:txBody>
          </p:sp>
          <p:sp>
            <p:nvSpPr>
              <p:cNvPr id="8" name="楕円 7"/>
              <p:cNvSpPr/>
              <p:nvPr/>
            </p:nvSpPr>
            <p:spPr>
              <a:xfrm>
                <a:off x="5094876" y="3825330"/>
                <a:ext cx="2002246" cy="433195"/>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wrap="none" lIns="0" rIns="0" rtlCol="0" anchor="ctr"/>
              <a:lstStyle/>
              <a:p>
                <a:pPr algn="ctr"/>
                <a:r>
                  <a:rPr kumimoji="1" lang="ja-JP" altLang="en-US" sz="1400" b="1" dirty="0">
                    <a:solidFill>
                      <a:schemeClr val="tx1"/>
                    </a:solidFill>
                  </a:rPr>
                  <a:t>顧客視点意識</a:t>
                </a:r>
              </a:p>
            </p:txBody>
          </p:sp>
          <p:sp>
            <p:nvSpPr>
              <p:cNvPr id="9" name="楕円 8"/>
              <p:cNvSpPr/>
              <p:nvPr/>
            </p:nvSpPr>
            <p:spPr>
              <a:xfrm>
                <a:off x="7811427" y="3159519"/>
                <a:ext cx="1371600" cy="369417"/>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wrap="none" lIns="0" rIns="0" rtlCol="0" anchor="ctr"/>
              <a:lstStyle/>
              <a:p>
                <a:pPr algn="ctr"/>
                <a:r>
                  <a:rPr kumimoji="1" lang="ja-JP" altLang="en-US" sz="1600" b="1" dirty="0">
                    <a:solidFill>
                      <a:schemeClr val="tx1"/>
                    </a:solidFill>
                  </a:rPr>
                  <a:t>効果的な</a:t>
                </a:r>
                <a:endParaRPr kumimoji="1" lang="en-US" altLang="ja-JP" sz="1600" b="1" dirty="0">
                  <a:solidFill>
                    <a:schemeClr val="tx1"/>
                  </a:solidFill>
                </a:endParaRPr>
              </a:p>
              <a:p>
                <a:pPr algn="ctr"/>
                <a:r>
                  <a:rPr kumimoji="1" lang="ja-JP" altLang="en-US" sz="1600" b="1" dirty="0">
                    <a:solidFill>
                      <a:schemeClr val="tx1"/>
                    </a:solidFill>
                  </a:rPr>
                  <a:t>チーム</a:t>
                </a:r>
              </a:p>
            </p:txBody>
          </p:sp>
          <p:sp>
            <p:nvSpPr>
              <p:cNvPr id="10" name="楕円 9"/>
              <p:cNvSpPr/>
              <p:nvPr/>
            </p:nvSpPr>
            <p:spPr>
              <a:xfrm>
                <a:off x="5003268" y="3276481"/>
                <a:ext cx="2075710" cy="424729"/>
              </a:xfrm>
              <a:prstGeom prst="ellipse">
                <a:avLst/>
              </a:prstGeom>
              <a:solidFill>
                <a:srgbClr val="E5FFE5"/>
              </a:solidFill>
            </p:spPr>
            <p:style>
              <a:lnRef idx="2">
                <a:schemeClr val="accent1"/>
              </a:lnRef>
              <a:fillRef idx="1">
                <a:schemeClr val="lt1"/>
              </a:fillRef>
              <a:effectRef idx="0">
                <a:schemeClr val="accent1"/>
              </a:effectRef>
              <a:fontRef idx="minor">
                <a:schemeClr val="dk1"/>
              </a:fontRef>
            </p:style>
            <p:txBody>
              <a:bodyPr wrap="none" lIns="0" rIns="0" rtlCol="0" anchor="ctr"/>
              <a:lstStyle/>
              <a:p>
                <a:pPr algn="ctr"/>
                <a:r>
                  <a:rPr kumimoji="1" lang="ja-JP" altLang="en-US" sz="1400" b="1" dirty="0">
                    <a:solidFill>
                      <a:schemeClr val="tx1"/>
                    </a:solidFill>
                  </a:rPr>
                  <a:t>理念・ビジョンへの共感</a:t>
                </a:r>
              </a:p>
            </p:txBody>
          </p:sp>
          <p:sp>
            <p:nvSpPr>
              <p:cNvPr id="11" name="正方形/長方形 10"/>
              <p:cNvSpPr/>
              <p:nvPr/>
            </p:nvSpPr>
            <p:spPr>
              <a:xfrm>
                <a:off x="10591150" y="2760607"/>
                <a:ext cx="696024" cy="205403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vert="wordArtVertRtl" wrap="square">
                <a:spAutoFit/>
              </a:bodyPr>
              <a:lstStyle/>
              <a:p>
                <a:pPr algn="ctr"/>
                <a:r>
                  <a:rPr kumimoji="1" lang="ja-JP" altLang="en-US" sz="2800" dirty="0"/>
                  <a:t>業績向上</a:t>
                </a:r>
              </a:p>
            </p:txBody>
          </p:sp>
          <p:sp>
            <p:nvSpPr>
              <p:cNvPr id="18" name="正方形/長方形 17"/>
              <p:cNvSpPr/>
              <p:nvPr/>
            </p:nvSpPr>
            <p:spPr>
              <a:xfrm>
                <a:off x="2127175" y="4421094"/>
                <a:ext cx="2183611" cy="285256"/>
              </a:xfrm>
              <a:prstGeom prst="rect">
                <a:avLst/>
              </a:prstGeom>
            </p:spPr>
            <p:txBody>
              <a:bodyPr wrap="none">
                <a:spAutoFit/>
              </a:bodyPr>
              <a:lstStyle/>
              <a:p>
                <a:r>
                  <a:rPr kumimoji="1" lang="ja-JP" altLang="en-US" dirty="0"/>
                  <a:t>仕事に充実感を持ち</a:t>
                </a:r>
                <a:endParaRPr kumimoji="1" lang="en-US" altLang="ja-JP" dirty="0"/>
              </a:p>
            </p:txBody>
          </p:sp>
          <p:sp>
            <p:nvSpPr>
              <p:cNvPr id="19" name="正方形/長方形 18"/>
              <p:cNvSpPr/>
              <p:nvPr/>
            </p:nvSpPr>
            <p:spPr>
              <a:xfrm>
                <a:off x="4880200" y="4420634"/>
                <a:ext cx="2412840" cy="369332"/>
              </a:xfrm>
              <a:prstGeom prst="rect">
                <a:avLst/>
              </a:prstGeom>
            </p:spPr>
            <p:txBody>
              <a:bodyPr wrap="none">
                <a:spAutoFit/>
              </a:bodyPr>
              <a:lstStyle/>
              <a:p>
                <a:r>
                  <a:rPr kumimoji="1" lang="ja-JP" altLang="en-US" dirty="0"/>
                  <a:t>共通の目的に向かって</a:t>
                </a:r>
                <a:endParaRPr kumimoji="1" lang="en-US" altLang="ja-JP" dirty="0"/>
              </a:p>
            </p:txBody>
          </p:sp>
          <p:sp>
            <p:nvSpPr>
              <p:cNvPr id="20" name="正方形/長方形 19"/>
              <p:cNvSpPr/>
              <p:nvPr/>
            </p:nvSpPr>
            <p:spPr>
              <a:xfrm>
                <a:off x="8028249" y="4288697"/>
                <a:ext cx="2063385" cy="646331"/>
              </a:xfrm>
              <a:prstGeom prst="rect">
                <a:avLst/>
              </a:prstGeom>
            </p:spPr>
            <p:txBody>
              <a:bodyPr wrap="none">
                <a:spAutoFit/>
              </a:bodyPr>
              <a:lstStyle/>
              <a:p>
                <a:r>
                  <a:rPr kumimoji="1" lang="ja-JP" altLang="en-US" dirty="0"/>
                  <a:t>一丸となって邁進し</a:t>
                </a:r>
                <a:endParaRPr kumimoji="1" lang="en-US" altLang="ja-JP" dirty="0"/>
              </a:p>
              <a:p>
                <a:r>
                  <a:rPr kumimoji="1" lang="ja-JP" altLang="en-US" dirty="0"/>
                  <a:t>続ける組織（店）</a:t>
                </a:r>
                <a:endParaRPr kumimoji="1" lang="en-US" altLang="ja-JP" dirty="0"/>
              </a:p>
            </p:txBody>
          </p:sp>
        </p:grpSp>
        <p:sp>
          <p:nvSpPr>
            <p:cNvPr id="23" name="正方形/長方形 22"/>
            <p:cNvSpPr/>
            <p:nvPr/>
          </p:nvSpPr>
          <p:spPr>
            <a:xfrm>
              <a:off x="1469450" y="2581784"/>
              <a:ext cx="2574586" cy="912891"/>
            </a:xfrm>
            <a:prstGeom prst="rect">
              <a:avLst/>
            </a:prstGeom>
          </p:spPr>
          <p:style>
            <a:lnRef idx="1">
              <a:schemeClr val="accent1"/>
            </a:lnRef>
            <a:fillRef idx="2">
              <a:schemeClr val="accent1"/>
            </a:fillRef>
            <a:effectRef idx="1">
              <a:schemeClr val="accent1"/>
            </a:effectRef>
            <a:fontRef idx="minor">
              <a:schemeClr val="dk1"/>
            </a:fontRef>
          </p:style>
          <p:txBody>
            <a:bodyPr wrap="square">
              <a:noAutofit/>
            </a:bodyPr>
            <a:lstStyle/>
            <a:p>
              <a:pPr algn="ctr"/>
              <a:r>
                <a:rPr kumimoji="1" lang="ja-JP" altLang="en-US" dirty="0"/>
                <a:t>コンセプト１</a:t>
              </a:r>
              <a:endParaRPr kumimoji="1" lang="en-US" altLang="ja-JP" dirty="0"/>
            </a:p>
            <a:p>
              <a:pPr algn="ctr"/>
              <a:r>
                <a:rPr kumimoji="1" lang="ja-JP" altLang="en-US" dirty="0"/>
                <a:t>＜組織活性化の源泉＞</a:t>
              </a:r>
              <a:endParaRPr kumimoji="1" lang="en-US" altLang="ja-JP" dirty="0"/>
            </a:p>
          </p:txBody>
        </p:sp>
        <p:sp>
          <p:nvSpPr>
            <p:cNvPr id="25" name="正方形/長方形 24"/>
            <p:cNvSpPr/>
            <p:nvPr/>
          </p:nvSpPr>
          <p:spPr>
            <a:xfrm>
              <a:off x="4334346" y="2571345"/>
              <a:ext cx="2492864"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kumimoji="1" lang="ja-JP" altLang="en-US" dirty="0"/>
                <a:t>コンセプト２</a:t>
              </a:r>
              <a:endParaRPr kumimoji="1" lang="en-US" altLang="ja-JP" dirty="0"/>
            </a:p>
            <a:p>
              <a:pPr algn="ctr"/>
              <a:r>
                <a:rPr kumimoji="1" lang="ja-JP" altLang="en-US" dirty="0"/>
                <a:t>＜収益性向上に繋がるエンゲージメント＞</a:t>
              </a:r>
              <a:endParaRPr kumimoji="1" lang="en-US" altLang="ja-JP" dirty="0"/>
            </a:p>
          </p:txBody>
        </p:sp>
        <p:sp>
          <p:nvSpPr>
            <p:cNvPr id="26" name="正方形/長方形 25"/>
            <p:cNvSpPr/>
            <p:nvPr/>
          </p:nvSpPr>
          <p:spPr>
            <a:xfrm>
              <a:off x="7170876" y="2530850"/>
              <a:ext cx="2541589"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kumimoji="1" lang="ja-JP" altLang="en-US" dirty="0"/>
                <a:t>コンセプト３</a:t>
              </a:r>
              <a:endParaRPr kumimoji="1" lang="en-US" altLang="ja-JP" dirty="0"/>
            </a:p>
            <a:p>
              <a:pPr algn="ctr"/>
              <a:r>
                <a:rPr kumimoji="1" lang="ja-JP" altLang="en-US" dirty="0"/>
                <a:t>＜業績拡大に繋がる</a:t>
              </a:r>
              <a:endParaRPr kumimoji="1" lang="en-US" altLang="ja-JP" dirty="0"/>
            </a:p>
            <a:p>
              <a:pPr algn="ctr"/>
              <a:r>
                <a:rPr kumimoji="1" lang="ja-JP" altLang="en-US" dirty="0"/>
                <a:t>チーム力と持続性＞</a:t>
              </a:r>
              <a:endParaRPr kumimoji="1" lang="en-US" altLang="ja-JP" dirty="0"/>
            </a:p>
          </p:txBody>
        </p:sp>
      </p:grpSp>
    </p:spTree>
    <p:extLst>
      <p:ext uri="{BB962C8B-B14F-4D97-AF65-F5344CB8AC3E}">
        <p14:creationId xmlns:p14="http://schemas.microsoft.com/office/powerpoint/2010/main" val="1134122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診断の全体像</a:t>
            </a:r>
            <a:endParaRPr kumimoji="1" lang="ja-JP" altLang="en-US" dirty="0"/>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4</a:t>
            </a:fld>
            <a:endParaRPr lang="en-US" dirty="0"/>
          </a:p>
        </p:txBody>
      </p:sp>
      <p:graphicFrame>
        <p:nvGraphicFramePr>
          <p:cNvPr id="10" name="表 9"/>
          <p:cNvGraphicFramePr>
            <a:graphicFrameLocks noGrp="1"/>
          </p:cNvGraphicFramePr>
          <p:nvPr>
            <p:extLst>
              <p:ext uri="{D42A27DB-BD31-4B8C-83A1-F6EECF244321}">
                <p14:modId xmlns:p14="http://schemas.microsoft.com/office/powerpoint/2010/main" val="4166283926"/>
              </p:ext>
            </p:extLst>
          </p:nvPr>
        </p:nvGraphicFramePr>
        <p:xfrm>
          <a:off x="704502" y="1226689"/>
          <a:ext cx="10507981" cy="4759960"/>
        </p:xfrm>
        <a:graphic>
          <a:graphicData uri="http://schemas.openxmlformats.org/drawingml/2006/table">
            <a:tbl>
              <a:tblPr firstRow="1" bandRow="1">
                <a:tableStyleId>{5940675A-B579-460E-94D1-54222C63F5DA}</a:tableStyleId>
              </a:tblPr>
              <a:tblGrid>
                <a:gridCol w="902253">
                  <a:extLst>
                    <a:ext uri="{9D8B030D-6E8A-4147-A177-3AD203B41FA5}">
                      <a16:colId xmlns:a16="http://schemas.microsoft.com/office/drawing/2014/main" val="1748443930"/>
                    </a:ext>
                  </a:extLst>
                </a:gridCol>
                <a:gridCol w="1310814">
                  <a:extLst>
                    <a:ext uri="{9D8B030D-6E8A-4147-A177-3AD203B41FA5}">
                      <a16:colId xmlns:a16="http://schemas.microsoft.com/office/drawing/2014/main" val="3375462315"/>
                    </a:ext>
                  </a:extLst>
                </a:gridCol>
                <a:gridCol w="8294914">
                  <a:extLst>
                    <a:ext uri="{9D8B030D-6E8A-4147-A177-3AD203B41FA5}">
                      <a16:colId xmlns:a16="http://schemas.microsoft.com/office/drawing/2014/main" val="210466156"/>
                    </a:ext>
                  </a:extLst>
                </a:gridCol>
              </a:tblGrid>
              <a:tr h="370840">
                <a:tc>
                  <a:txBody>
                    <a:bodyPr/>
                    <a:lstStyle/>
                    <a:p>
                      <a:pPr algn="ctr"/>
                      <a:r>
                        <a:rPr kumimoji="1" lang="ja-JP" altLang="en-US" sz="1200" dirty="0"/>
                        <a:t>コンセプト</a:t>
                      </a:r>
                    </a:p>
                  </a:txBody>
                  <a:tcPr anchor="ctr">
                    <a:solidFill>
                      <a:schemeClr val="accent1">
                        <a:lumMod val="20000"/>
                        <a:lumOff val="80000"/>
                      </a:schemeClr>
                    </a:solidFill>
                  </a:tcPr>
                </a:tc>
                <a:tc>
                  <a:txBody>
                    <a:bodyPr/>
                    <a:lstStyle/>
                    <a:p>
                      <a:pPr algn="ctr"/>
                      <a:r>
                        <a:rPr kumimoji="1" lang="ja-JP" altLang="en-US" sz="1200" dirty="0"/>
                        <a:t>カテゴリー（要因）</a:t>
                      </a:r>
                    </a:p>
                  </a:txBody>
                  <a:tcPr anchor="ctr">
                    <a:solidFill>
                      <a:schemeClr val="accent1">
                        <a:lumMod val="20000"/>
                        <a:lumOff val="80000"/>
                      </a:schemeClr>
                    </a:solidFill>
                  </a:tcPr>
                </a:tc>
                <a:tc>
                  <a:txBody>
                    <a:bodyPr/>
                    <a:lstStyle/>
                    <a:p>
                      <a:pPr algn="ctr"/>
                      <a:r>
                        <a:rPr kumimoji="1" lang="ja-JP" altLang="en-US" sz="1200" dirty="0"/>
                        <a:t>サブカテゴリー（要素）</a:t>
                      </a:r>
                    </a:p>
                  </a:txBody>
                  <a:tcPr anchor="ctr">
                    <a:solidFill>
                      <a:schemeClr val="accent1">
                        <a:lumMod val="20000"/>
                        <a:lumOff val="80000"/>
                      </a:schemeClr>
                    </a:solidFill>
                  </a:tcPr>
                </a:tc>
                <a:extLst>
                  <a:ext uri="{0D108BD9-81ED-4DB2-BD59-A6C34878D82A}">
                    <a16:rowId xmlns:a16="http://schemas.microsoft.com/office/drawing/2014/main" val="14022412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組織活性化の源泉</a:t>
                      </a:r>
                      <a:endParaRPr kumimoji="1" lang="ja-JP" altLang="en-US" sz="1200" dirty="0"/>
                    </a:p>
                  </a:txBody>
                  <a:tcPr anchor="ctr"/>
                </a:tc>
                <a:tc>
                  <a:txBody>
                    <a:bodyPr/>
                    <a:lstStyle/>
                    <a:p>
                      <a:pPr algn="l"/>
                      <a:r>
                        <a:rPr kumimoji="1" lang="ja-JP" altLang="en-US" sz="1200" dirty="0">
                          <a:latin typeface="+mn-ea"/>
                          <a:ea typeface="+mn-ea"/>
                        </a:rPr>
                        <a:t>会社満足度</a:t>
                      </a:r>
                      <a:endParaRPr kumimoji="1" lang="en-US" altLang="ja-JP" sz="1200" dirty="0">
                        <a:latin typeface="+mn-ea"/>
                        <a:ea typeface="+mn-ea"/>
                      </a:endParaRPr>
                    </a:p>
                    <a:p>
                      <a:pPr algn="l"/>
                      <a:r>
                        <a:rPr kumimoji="1" lang="ja-JP" altLang="en-US" sz="1200" dirty="0">
                          <a:latin typeface="+mn-ea"/>
                          <a:ea typeface="+mn-ea"/>
                        </a:rPr>
                        <a:t>職務満足度</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dk1"/>
                          </a:solidFill>
                          <a:effectLst/>
                          <a:latin typeface="+mn-lt"/>
                          <a:ea typeface="+mn-ea"/>
                          <a:cs typeface="+mn-cs"/>
                        </a:rPr>
                        <a:t>・</a:t>
                      </a:r>
                      <a:r>
                        <a:rPr kumimoji="1" lang="ja-JP" altLang="en-US" sz="1200" b="0" i="0" u="none" strike="noStrike" kern="1200" dirty="0">
                          <a:solidFill>
                            <a:schemeClr val="tx1"/>
                          </a:solidFill>
                          <a:effectLst/>
                          <a:latin typeface="+mn-lt"/>
                          <a:ea typeface="+mn-ea"/>
                          <a:cs typeface="+mn-cs"/>
                        </a:rPr>
                        <a:t>公平な評価　</a:t>
                      </a:r>
                      <a:r>
                        <a:rPr kumimoji="1" lang="ja-JP" altLang="en-US" sz="1200" b="0" i="0" u="none" strike="noStrike" kern="1200" dirty="0">
                          <a:solidFill>
                            <a:schemeClr val="dk1"/>
                          </a:solidFill>
                          <a:effectLst/>
                          <a:latin typeface="+mn-lt"/>
                          <a:ea typeface="+mn-ea"/>
                          <a:cs typeface="+mn-cs"/>
                        </a:rPr>
                        <a:t>・</a:t>
                      </a:r>
                      <a:r>
                        <a:rPr kumimoji="1" lang="ja-JP" altLang="en-US" sz="1200" b="0" i="0" u="none" strike="noStrike" kern="1200" dirty="0">
                          <a:solidFill>
                            <a:schemeClr val="tx1"/>
                          </a:solidFill>
                          <a:effectLst/>
                          <a:latin typeface="+mn-lt"/>
                          <a:ea typeface="+mn-ea"/>
                          <a:cs typeface="+mn-cs"/>
                        </a:rPr>
                        <a:t>活躍のチャンス</a:t>
                      </a:r>
                      <a:r>
                        <a:rPr lang="ja-JP" altLang="en-US" sz="1200" dirty="0"/>
                        <a:t> 　・</a:t>
                      </a:r>
                      <a:r>
                        <a:rPr kumimoji="1" lang="ja-JP" altLang="en-US" sz="1200" b="0" i="0" u="none" strike="noStrike" kern="1200" dirty="0">
                          <a:solidFill>
                            <a:schemeClr val="tx1"/>
                          </a:solidFill>
                          <a:effectLst/>
                          <a:latin typeface="+mn-lt"/>
                          <a:ea typeface="+mn-ea"/>
                          <a:cs typeface="+mn-cs"/>
                        </a:rPr>
                        <a:t>内容が変化に富んでいるか　</a:t>
                      </a:r>
                      <a:r>
                        <a:rPr kumimoji="1" lang="ja-JP" altLang="en-US" sz="1200" b="0" i="0" u="none" strike="noStrike" kern="1200" dirty="0">
                          <a:solidFill>
                            <a:schemeClr val="dk1"/>
                          </a:solidFill>
                          <a:effectLst/>
                          <a:latin typeface="+mn-lt"/>
                          <a:ea typeface="+mn-ea"/>
                          <a:cs typeface="+mn-cs"/>
                        </a:rPr>
                        <a:t>・</a:t>
                      </a:r>
                      <a:r>
                        <a:rPr kumimoji="1" lang="ja-JP" altLang="en-US" sz="1200" b="0" i="0" u="none" strike="noStrike" kern="1200" dirty="0">
                          <a:solidFill>
                            <a:schemeClr val="tx1"/>
                          </a:solidFill>
                          <a:effectLst/>
                          <a:latin typeface="+mn-lt"/>
                          <a:ea typeface="+mn-ea"/>
                          <a:cs typeface="+mn-cs"/>
                        </a:rPr>
                        <a:t>技能多様性　</a:t>
                      </a:r>
                      <a:r>
                        <a:rPr kumimoji="1" lang="ja-JP" altLang="en-US" sz="1200" b="0" i="0" u="none" strike="noStrike" kern="1200" dirty="0">
                          <a:solidFill>
                            <a:schemeClr val="dk1"/>
                          </a:solidFill>
                          <a:effectLst/>
                          <a:latin typeface="+mn-lt"/>
                          <a:ea typeface="+mn-ea"/>
                          <a:cs typeface="+mn-cs"/>
                        </a:rPr>
                        <a:t>・</a:t>
                      </a:r>
                      <a:r>
                        <a:rPr kumimoji="1" lang="ja-JP" altLang="en-US" sz="1200" b="0" i="0" u="none" strike="noStrike" kern="1200" dirty="0">
                          <a:solidFill>
                            <a:schemeClr val="tx1"/>
                          </a:solidFill>
                          <a:effectLst/>
                          <a:latin typeface="+mn-lt"/>
                          <a:ea typeface="+mn-ea"/>
                          <a:cs typeface="+mn-cs"/>
                        </a:rPr>
                        <a:t>タスク完結性</a:t>
                      </a:r>
                      <a:r>
                        <a:rPr lang="ja-JP" altLang="en-US" sz="1200" dirty="0"/>
                        <a:t> 　・</a:t>
                      </a:r>
                      <a:r>
                        <a:rPr kumimoji="1" lang="ja-JP" altLang="en-US" sz="1200" b="0" i="0" u="none" strike="noStrike" kern="1200" dirty="0">
                          <a:solidFill>
                            <a:schemeClr val="tx1"/>
                          </a:solidFill>
                          <a:effectLst/>
                          <a:latin typeface="+mn-lt"/>
                          <a:ea typeface="+mn-ea"/>
                          <a:cs typeface="+mn-cs"/>
                        </a:rPr>
                        <a:t>タスク重要性</a:t>
                      </a:r>
                      <a:r>
                        <a:rPr lang="ja-JP" altLang="en-US" sz="1200" dirty="0"/>
                        <a:t> 　・</a:t>
                      </a:r>
                      <a:r>
                        <a:rPr kumimoji="1" lang="ja-JP" altLang="en-US" sz="1200" b="0" i="0" u="none" strike="noStrike" kern="1200" dirty="0">
                          <a:solidFill>
                            <a:schemeClr val="tx1"/>
                          </a:solidFill>
                          <a:effectLst/>
                          <a:latin typeface="+mn-lt"/>
                          <a:ea typeface="+mn-ea"/>
                          <a:cs typeface="+mn-cs"/>
                        </a:rPr>
                        <a:t>自由、決定権があるか（自律性）　・フィードバックはあるか　・賃金の納得性</a:t>
                      </a:r>
                      <a:r>
                        <a:rPr lang="ja-JP" altLang="en-US" sz="1200" dirty="0"/>
                        <a:t> 　・</a:t>
                      </a:r>
                      <a:r>
                        <a:rPr kumimoji="1" lang="ja-JP" altLang="en-US" sz="1200" b="0" i="0" u="none" strike="noStrike" kern="1200" dirty="0">
                          <a:solidFill>
                            <a:schemeClr val="tx1"/>
                          </a:solidFill>
                          <a:effectLst/>
                          <a:latin typeface="+mn-lt"/>
                          <a:ea typeface="+mn-ea"/>
                          <a:cs typeface="+mn-cs"/>
                        </a:rPr>
                        <a:t>福利厚生の充実　・ハラスメント</a:t>
                      </a:r>
                      <a:r>
                        <a:rPr lang="ja-JP" altLang="en-US" sz="1200" dirty="0"/>
                        <a:t> 　・</a:t>
                      </a:r>
                      <a:r>
                        <a:rPr kumimoji="1" lang="ja-JP" altLang="en-US" sz="1200" b="0" i="0" u="none" strike="noStrike" kern="1200" dirty="0">
                          <a:solidFill>
                            <a:schemeClr val="tx1"/>
                          </a:solidFill>
                          <a:effectLst/>
                          <a:latin typeface="+mn-lt"/>
                          <a:ea typeface="+mn-ea"/>
                          <a:cs typeface="+mn-cs"/>
                        </a:rPr>
                        <a:t>不平不満</a:t>
                      </a:r>
                      <a:r>
                        <a:rPr lang="ja-JP" altLang="en-US" sz="1200" dirty="0"/>
                        <a:t> 　・</a:t>
                      </a:r>
                      <a:r>
                        <a:rPr kumimoji="1" lang="ja-JP" altLang="en-US" sz="1200" b="0" i="0" u="none" strike="noStrike" kern="1200" dirty="0">
                          <a:solidFill>
                            <a:schemeClr val="tx1"/>
                          </a:solidFill>
                          <a:effectLst/>
                          <a:latin typeface="+mn-lt"/>
                          <a:ea typeface="+mn-ea"/>
                          <a:cs typeface="+mn-cs"/>
                        </a:rPr>
                        <a:t>社会的手抜き　</a:t>
                      </a:r>
                      <a:r>
                        <a:rPr lang="ja-JP" altLang="en-US" sz="1200" dirty="0"/>
                        <a:t> ・</a:t>
                      </a:r>
                      <a:r>
                        <a:rPr kumimoji="1" lang="ja-JP" altLang="en-US" sz="1200" b="0" i="0" u="none" strike="noStrike" kern="1200" dirty="0">
                          <a:solidFill>
                            <a:schemeClr val="tx1"/>
                          </a:solidFill>
                          <a:effectLst/>
                          <a:latin typeface="+mn-lt"/>
                          <a:ea typeface="+mn-ea"/>
                          <a:cs typeface="+mn-cs"/>
                        </a:rPr>
                        <a:t>安全管理</a:t>
                      </a:r>
                      <a:r>
                        <a:rPr lang="ja-JP" altLang="en-US" sz="1200" dirty="0"/>
                        <a:t> 　・</a:t>
                      </a:r>
                      <a:r>
                        <a:rPr kumimoji="1" lang="ja-JP" altLang="en-US" sz="1200" b="0" i="0" u="none" strike="noStrike" kern="1200" dirty="0">
                          <a:solidFill>
                            <a:schemeClr val="tx1"/>
                          </a:solidFill>
                          <a:effectLst/>
                          <a:latin typeface="+mn-lt"/>
                          <a:ea typeface="+mn-ea"/>
                          <a:cs typeface="+mn-cs"/>
                        </a:rPr>
                        <a:t>衛生管理</a:t>
                      </a:r>
                      <a:r>
                        <a:rPr lang="ja-JP" altLang="en-US" sz="1200" dirty="0"/>
                        <a:t> 　・</a:t>
                      </a:r>
                      <a:r>
                        <a:rPr kumimoji="1" lang="ja-JP" altLang="en-US" sz="1200" b="0" i="0" u="none" strike="noStrike" kern="1200" dirty="0">
                          <a:solidFill>
                            <a:schemeClr val="tx1"/>
                          </a:solidFill>
                          <a:effectLst/>
                          <a:latin typeface="+mn-lt"/>
                          <a:ea typeface="+mn-ea"/>
                          <a:cs typeface="+mn-cs"/>
                        </a:rPr>
                        <a:t>５Ｓ</a:t>
                      </a:r>
                      <a:r>
                        <a:rPr lang="ja-JP" altLang="en-US" sz="1200" dirty="0"/>
                        <a:t> 　・</a:t>
                      </a:r>
                      <a:r>
                        <a:rPr kumimoji="1" lang="ja-JP" altLang="en-US" sz="1200" b="0" i="0" u="none" strike="noStrike" kern="1200" dirty="0">
                          <a:solidFill>
                            <a:schemeClr val="tx1"/>
                          </a:solidFill>
                          <a:effectLst/>
                          <a:latin typeface="+mn-lt"/>
                          <a:ea typeface="+mn-ea"/>
                          <a:cs typeface="+mn-cs"/>
                        </a:rPr>
                        <a:t>労務管理</a:t>
                      </a:r>
                      <a:r>
                        <a:rPr lang="ja-JP" altLang="en-US" sz="1200" dirty="0"/>
                        <a:t> 　・</a:t>
                      </a:r>
                      <a:r>
                        <a:rPr kumimoji="1" lang="ja-JP" altLang="en-US" sz="1200" b="0" i="0" u="none" strike="noStrike" kern="1200" dirty="0">
                          <a:solidFill>
                            <a:schemeClr val="tx1"/>
                          </a:solidFill>
                          <a:effectLst/>
                          <a:latin typeface="+mn-lt"/>
                          <a:ea typeface="+mn-ea"/>
                          <a:cs typeface="+mn-cs"/>
                        </a:rPr>
                        <a:t>その他</a:t>
                      </a:r>
                      <a:r>
                        <a:rPr lang="ja-JP" altLang="en-US" sz="1200" dirty="0"/>
                        <a:t> 　・</a:t>
                      </a:r>
                      <a:r>
                        <a:rPr kumimoji="1" lang="ja-JP" altLang="en-US" sz="1200" b="0" i="0" u="none" strike="noStrike" kern="1200" dirty="0">
                          <a:solidFill>
                            <a:schemeClr val="tx1"/>
                          </a:solidFill>
                          <a:effectLst/>
                          <a:latin typeface="+mn-lt"/>
                          <a:ea typeface="+mn-ea"/>
                          <a:cs typeface="+mn-cs"/>
                        </a:rPr>
                        <a:t>知識付与（自身が受ける側）</a:t>
                      </a:r>
                      <a:r>
                        <a:rPr lang="ja-JP" altLang="en-US" sz="1200" dirty="0"/>
                        <a:t> 　・</a:t>
                      </a:r>
                      <a:r>
                        <a:rPr kumimoji="1" lang="ja-JP" altLang="en-US" sz="1200" b="0" i="0" u="none" strike="noStrike" kern="1200" dirty="0">
                          <a:solidFill>
                            <a:schemeClr val="tx1"/>
                          </a:solidFill>
                          <a:effectLst/>
                          <a:latin typeface="+mn-lt"/>
                          <a:ea typeface="+mn-ea"/>
                          <a:cs typeface="+mn-cs"/>
                        </a:rPr>
                        <a:t>部下育成（自身が教える側）　</a:t>
                      </a:r>
                      <a:r>
                        <a:rPr lang="ja-JP" altLang="en-US" sz="1200" dirty="0"/>
                        <a:t> ・</a:t>
                      </a:r>
                      <a:r>
                        <a:rPr kumimoji="1" lang="ja-JP" altLang="en-US" sz="1200" b="0" i="0" u="none" strike="noStrike" kern="1200" dirty="0">
                          <a:solidFill>
                            <a:schemeClr val="tx1"/>
                          </a:solidFill>
                          <a:effectLst/>
                          <a:latin typeface="+mn-lt"/>
                          <a:ea typeface="+mn-ea"/>
                          <a:cs typeface="+mn-cs"/>
                        </a:rPr>
                        <a:t>部下育成（自身が教える側）　</a:t>
                      </a:r>
                      <a:r>
                        <a:rPr lang="ja-JP" altLang="en-US" sz="1200" dirty="0"/>
                        <a:t> ・</a:t>
                      </a:r>
                      <a:r>
                        <a:rPr kumimoji="1" lang="ja-JP" altLang="en-US" sz="1200" b="0" i="0" u="none" strike="noStrike" kern="1200" dirty="0">
                          <a:solidFill>
                            <a:schemeClr val="tx1"/>
                          </a:solidFill>
                          <a:effectLst/>
                          <a:latin typeface="+mn-lt"/>
                          <a:ea typeface="+mn-ea"/>
                          <a:cs typeface="+mn-cs"/>
                        </a:rPr>
                        <a:t>店長のリーダーシップ</a:t>
                      </a:r>
                      <a:r>
                        <a:rPr lang="ja-JP" altLang="en-US" sz="1200" dirty="0"/>
                        <a:t> 　・</a:t>
                      </a:r>
                      <a:r>
                        <a:rPr kumimoji="1" lang="ja-JP" altLang="en-US" sz="1200" b="0" i="0" u="none" strike="noStrike" kern="1200" dirty="0">
                          <a:solidFill>
                            <a:schemeClr val="tx1"/>
                          </a:solidFill>
                          <a:effectLst/>
                          <a:latin typeface="+mn-lt"/>
                          <a:ea typeface="+mn-ea"/>
                          <a:cs typeface="+mn-cs"/>
                        </a:rPr>
                        <a:t>店長の承認行動</a:t>
                      </a:r>
                      <a:r>
                        <a:rPr lang="ja-JP" altLang="en-US" sz="1200" dirty="0"/>
                        <a:t> 　・</a:t>
                      </a:r>
                      <a:r>
                        <a:rPr kumimoji="1" lang="ja-JP" altLang="en-US" sz="1200" b="0" i="0" u="none" strike="noStrike" kern="1200" dirty="0">
                          <a:solidFill>
                            <a:schemeClr val="tx1"/>
                          </a:solidFill>
                          <a:effectLst/>
                          <a:latin typeface="+mn-lt"/>
                          <a:ea typeface="+mn-ea"/>
                          <a:cs typeface="+mn-cs"/>
                        </a:rPr>
                        <a:t>店長の育成マインド</a:t>
                      </a:r>
                      <a:r>
                        <a:rPr lang="ja-JP" altLang="en-US" sz="1200" dirty="0"/>
                        <a:t> 　・</a:t>
                      </a:r>
                      <a:r>
                        <a:rPr kumimoji="1" lang="ja-JP" altLang="en-US" sz="1200" b="0" i="0" u="none" strike="noStrike" kern="1200" dirty="0">
                          <a:solidFill>
                            <a:schemeClr val="tx1"/>
                          </a:solidFill>
                          <a:effectLst/>
                          <a:latin typeface="+mn-lt"/>
                          <a:ea typeface="+mn-ea"/>
                          <a:cs typeface="+mn-cs"/>
                        </a:rPr>
                        <a:t>意見具申　</a:t>
                      </a:r>
                      <a:r>
                        <a:rPr lang="ja-JP" altLang="en-US" sz="1200" dirty="0"/>
                        <a:t> ・</a:t>
                      </a:r>
                      <a:r>
                        <a:rPr kumimoji="1" lang="ja-JP" altLang="en-US" sz="1200" b="0" i="0" u="none" strike="noStrike" kern="1200" dirty="0">
                          <a:solidFill>
                            <a:schemeClr val="tx1"/>
                          </a:solidFill>
                          <a:effectLst/>
                          <a:latin typeface="+mn-lt"/>
                          <a:ea typeface="+mn-ea"/>
                          <a:cs typeface="+mn-cs"/>
                        </a:rPr>
                        <a:t>上司の承認行動</a:t>
                      </a:r>
                      <a:r>
                        <a:rPr lang="ja-JP" altLang="en-US" sz="1200" dirty="0"/>
                        <a:t> 　・</a:t>
                      </a:r>
                      <a:r>
                        <a:rPr kumimoji="1" lang="ja-JP" altLang="en-US" sz="1200" b="0" i="0" u="none" strike="noStrike" kern="1200" dirty="0">
                          <a:solidFill>
                            <a:schemeClr val="tx1"/>
                          </a:solidFill>
                          <a:effectLst/>
                          <a:latin typeface="+mn-lt"/>
                          <a:ea typeface="+mn-ea"/>
                          <a:cs typeface="+mn-cs"/>
                        </a:rPr>
                        <a:t>上司の育成マインド</a:t>
                      </a:r>
                      <a:r>
                        <a:rPr lang="ja-JP" altLang="en-US" sz="1200" dirty="0"/>
                        <a:t> 　・</a:t>
                      </a:r>
                      <a:r>
                        <a:rPr kumimoji="1" lang="ja-JP" altLang="en-US" sz="1200" b="0" i="0" u="none" strike="noStrike" kern="1200" dirty="0">
                          <a:solidFill>
                            <a:schemeClr val="tx1"/>
                          </a:solidFill>
                          <a:effectLst/>
                          <a:latin typeface="+mn-lt"/>
                          <a:ea typeface="+mn-ea"/>
                          <a:cs typeface="+mn-cs"/>
                        </a:rPr>
                        <a:t>上司への意見具申</a:t>
                      </a:r>
                      <a:r>
                        <a:rPr lang="ja-JP" altLang="en-US" sz="1200" dirty="0"/>
                        <a:t> 　・</a:t>
                      </a:r>
                      <a:r>
                        <a:rPr kumimoji="1" lang="ja-JP" altLang="en-US" sz="1200" b="0" i="0" u="none" strike="noStrike" kern="1200" dirty="0">
                          <a:solidFill>
                            <a:schemeClr val="tx1"/>
                          </a:solidFill>
                          <a:effectLst/>
                          <a:latin typeface="+mn-lt"/>
                          <a:ea typeface="+mn-ea"/>
                          <a:cs typeface="+mn-cs"/>
                        </a:rPr>
                        <a:t>同僚との関係（フォロー、指摘、仕事以外）</a:t>
                      </a:r>
                      <a:r>
                        <a:rPr lang="ja-JP" altLang="en-US" sz="1200" dirty="0"/>
                        <a:t> 　・</a:t>
                      </a:r>
                      <a:r>
                        <a:rPr kumimoji="1" lang="ja-JP" altLang="en-US" sz="1200" b="0" i="0" u="none" strike="noStrike" kern="1200" dirty="0">
                          <a:solidFill>
                            <a:schemeClr val="tx1"/>
                          </a:solidFill>
                          <a:effectLst/>
                          <a:latin typeface="+mn-lt"/>
                          <a:ea typeface="+mn-ea"/>
                          <a:cs typeface="+mn-cs"/>
                        </a:rPr>
                        <a:t>同僚（他店店長）との関係（指摘、仕事以外）　</a:t>
                      </a:r>
                      <a:r>
                        <a:rPr lang="ja-JP" altLang="en-US" sz="1200" dirty="0"/>
                        <a:t> ・</a:t>
                      </a:r>
                      <a:r>
                        <a:rPr kumimoji="1" lang="ja-JP" altLang="en-US" sz="1200" b="0" i="0" u="none" strike="noStrike" kern="1200" dirty="0">
                          <a:solidFill>
                            <a:schemeClr val="tx1"/>
                          </a:solidFill>
                          <a:effectLst/>
                          <a:latin typeface="+mn-lt"/>
                          <a:ea typeface="+mn-ea"/>
                          <a:cs typeface="+mn-cs"/>
                        </a:rPr>
                        <a:t>具体的な目標</a:t>
                      </a:r>
                      <a:r>
                        <a:rPr lang="ja-JP" altLang="en-US" sz="1200" dirty="0"/>
                        <a:t> </a:t>
                      </a:r>
                      <a:endParaRPr kumimoji="1" lang="ja-JP" altLang="en-US" sz="1200" dirty="0"/>
                    </a:p>
                    <a:p>
                      <a:endParaRPr kumimoji="1" lang="ja-JP" altLang="en-US" sz="1200" dirty="0"/>
                    </a:p>
                  </a:txBody>
                  <a:tcPr/>
                </a:tc>
                <a:extLst>
                  <a:ext uri="{0D108BD9-81ED-4DB2-BD59-A6C34878D82A}">
                    <a16:rowId xmlns:a16="http://schemas.microsoft.com/office/drawing/2014/main" val="2571247664"/>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収益性向上に繋がるエンゲージメント</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理念・ビジョンへの共感</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・会社の将来像への期待</a:t>
                      </a:r>
                      <a:r>
                        <a:rPr lang="ja-JP" altLang="en-US" sz="1200" dirty="0"/>
                        <a:t> 　・</a:t>
                      </a:r>
                      <a:r>
                        <a:rPr kumimoji="1" lang="ja-JP" altLang="en-US" sz="1200" b="0" i="0" u="none" strike="noStrike" kern="1200" dirty="0">
                          <a:solidFill>
                            <a:schemeClr val="tx1"/>
                          </a:solidFill>
                          <a:effectLst/>
                          <a:latin typeface="+mn-lt"/>
                          <a:ea typeface="+mn-ea"/>
                          <a:cs typeface="+mn-cs"/>
                        </a:rPr>
                        <a:t>顧客視点意識</a:t>
                      </a:r>
                      <a:r>
                        <a:rPr lang="ja-JP" altLang="en-US" sz="1200" dirty="0"/>
                        <a:t> 　・</a:t>
                      </a:r>
                      <a:r>
                        <a:rPr kumimoji="1" lang="ja-JP" altLang="en-US" sz="1200" b="0" i="0" u="none" strike="noStrike" kern="1200" dirty="0">
                          <a:solidFill>
                            <a:schemeClr val="tx1"/>
                          </a:solidFill>
                          <a:effectLst/>
                          <a:latin typeface="+mn-lt"/>
                          <a:ea typeface="+mn-ea"/>
                          <a:cs typeface="+mn-cs"/>
                        </a:rPr>
                        <a:t>理念、ビジョンの認知</a:t>
                      </a:r>
                      <a:r>
                        <a:rPr lang="ja-JP" altLang="en-US" sz="1200" dirty="0"/>
                        <a:t> 　・</a:t>
                      </a:r>
                      <a:r>
                        <a:rPr kumimoji="1" lang="ja-JP" altLang="en-US" sz="1200" b="0" i="0" u="none" strike="noStrike" kern="1200" dirty="0">
                          <a:solidFill>
                            <a:schemeClr val="tx1"/>
                          </a:solidFill>
                          <a:effectLst/>
                          <a:latin typeface="+mn-lt"/>
                          <a:ea typeface="+mn-ea"/>
                          <a:cs typeface="+mn-cs"/>
                        </a:rPr>
                        <a:t>理念、ビジョンの理解</a:t>
                      </a:r>
                      <a:endParaRPr kumimoji="1" lang="ja-JP" altLang="en-US" sz="1200" dirty="0"/>
                    </a:p>
                    <a:p>
                      <a:endParaRPr kumimoji="1" lang="ja-JP" altLang="en-US" sz="1200" dirty="0"/>
                    </a:p>
                  </a:txBody>
                  <a:tcPr/>
                </a:tc>
                <a:extLst>
                  <a:ext uri="{0D108BD9-81ED-4DB2-BD59-A6C34878D82A}">
                    <a16:rowId xmlns:a16="http://schemas.microsoft.com/office/drawing/2014/main" val="1415370837"/>
                  </a:ext>
                </a:extLst>
              </a:tr>
              <a:tr h="37084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顧客視点意識</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a:t>
                      </a:r>
                      <a:r>
                        <a:rPr kumimoji="1" lang="ja-JP" altLang="en-US" sz="1200" b="0" i="0" u="none" strike="noStrike" kern="1200" dirty="0">
                          <a:solidFill>
                            <a:schemeClr val="tx1"/>
                          </a:solidFill>
                          <a:effectLst/>
                          <a:latin typeface="+mn-lt"/>
                          <a:ea typeface="+mn-ea"/>
                          <a:cs typeface="+mn-cs"/>
                        </a:rPr>
                        <a:t>従業員のタイプ</a:t>
                      </a:r>
                      <a:r>
                        <a:rPr lang="ja-JP" altLang="en-US" sz="1200" dirty="0"/>
                        <a:t> 　・</a:t>
                      </a:r>
                      <a:r>
                        <a:rPr kumimoji="1" lang="ja-JP" altLang="en-US" sz="1200" b="0" i="0" u="none" strike="noStrike" kern="1200" dirty="0">
                          <a:solidFill>
                            <a:schemeClr val="tx1"/>
                          </a:solidFill>
                          <a:effectLst/>
                          <a:latin typeface="+mn-lt"/>
                          <a:ea typeface="+mn-ea"/>
                          <a:cs typeface="+mn-cs"/>
                        </a:rPr>
                        <a:t>公式化の度合い　</a:t>
                      </a:r>
                      <a:r>
                        <a:rPr lang="ja-JP" altLang="en-US" sz="1200" dirty="0"/>
                        <a:t> ・</a:t>
                      </a:r>
                      <a:r>
                        <a:rPr kumimoji="1" lang="ja-JP" altLang="en-US" sz="1200" b="0" i="0" u="none" strike="noStrike" kern="1200" dirty="0">
                          <a:solidFill>
                            <a:schemeClr val="tx1"/>
                          </a:solidFill>
                          <a:effectLst/>
                          <a:latin typeface="+mn-lt"/>
                          <a:ea typeface="+mn-ea"/>
                          <a:cs typeface="+mn-cs"/>
                        </a:rPr>
                        <a:t>権限委譲</a:t>
                      </a:r>
                      <a:r>
                        <a:rPr lang="ja-JP" altLang="en-US" sz="1200" dirty="0"/>
                        <a:t> 　・</a:t>
                      </a:r>
                      <a:r>
                        <a:rPr kumimoji="1" lang="ja-JP" altLang="en-US" sz="1200" b="0" i="0" u="none" strike="noStrike" kern="1200" dirty="0">
                          <a:solidFill>
                            <a:schemeClr val="tx1"/>
                          </a:solidFill>
                          <a:effectLst/>
                          <a:latin typeface="+mn-lt"/>
                          <a:ea typeface="+mn-ea"/>
                          <a:cs typeface="+mn-cs"/>
                        </a:rPr>
                        <a:t>傾聴スキル　</a:t>
                      </a:r>
                      <a:r>
                        <a:rPr lang="ja-JP" altLang="en-US" sz="1200" dirty="0"/>
                        <a:t> ・</a:t>
                      </a:r>
                      <a:r>
                        <a:rPr kumimoji="1" lang="ja-JP" altLang="en-US" sz="1200" b="0" i="0" u="none" strike="noStrike" kern="1200" dirty="0">
                          <a:solidFill>
                            <a:schemeClr val="tx1"/>
                          </a:solidFill>
                          <a:effectLst/>
                          <a:latin typeface="+mn-lt"/>
                          <a:ea typeface="+mn-ea"/>
                          <a:cs typeface="+mn-cs"/>
                        </a:rPr>
                        <a:t>役割の明確化</a:t>
                      </a:r>
                      <a:r>
                        <a:rPr lang="ja-JP" altLang="en-US" sz="1200" dirty="0"/>
                        <a:t> 　・</a:t>
                      </a:r>
                      <a:r>
                        <a:rPr kumimoji="1" lang="ja-JP" altLang="en-US" sz="1200" b="0" i="0" u="none" strike="noStrike" kern="1200" dirty="0">
                          <a:solidFill>
                            <a:schemeClr val="tx1"/>
                          </a:solidFill>
                          <a:effectLst/>
                          <a:latin typeface="+mn-lt"/>
                          <a:ea typeface="+mn-ea"/>
                          <a:cs typeface="+mn-cs"/>
                        </a:rPr>
                        <a:t>組織市民行動（貢献意欲）</a:t>
                      </a:r>
                      <a:r>
                        <a:rPr lang="ja-JP" altLang="en-US" sz="1200" dirty="0"/>
                        <a:t> </a:t>
                      </a:r>
                      <a:endParaRPr kumimoji="1" lang="ja-JP" altLang="en-US" sz="1200" dirty="0">
                        <a:latin typeface="+mn-ea"/>
                        <a:ea typeface="+mn-ea"/>
                      </a:endParaRPr>
                    </a:p>
                    <a:p>
                      <a:endParaRPr kumimoji="1" lang="ja-JP" altLang="en-US" sz="1200" dirty="0"/>
                    </a:p>
                  </a:txBody>
                  <a:tcPr/>
                </a:tc>
                <a:extLst>
                  <a:ext uri="{0D108BD9-81ED-4DB2-BD59-A6C34878D82A}">
                    <a16:rowId xmlns:a16="http://schemas.microsoft.com/office/drawing/2014/main" val="1460766126"/>
                  </a:ext>
                </a:extLst>
              </a:tr>
              <a:tr h="370840">
                <a:tc rowSpan="3">
                  <a:txBody>
                    <a:bodyPr/>
                    <a:lstStyle/>
                    <a:p>
                      <a:pPr algn="ctr"/>
                      <a:r>
                        <a:rPr kumimoji="1" lang="ja-JP" altLang="en-US" sz="1200" dirty="0"/>
                        <a:t>業績拡大に繋がる</a:t>
                      </a:r>
                      <a:endParaRPr kumimoji="1" lang="en-US" altLang="ja-JP" sz="1200" dirty="0"/>
                    </a:p>
                    <a:p>
                      <a:pPr algn="ctr"/>
                      <a:r>
                        <a:rPr kumimoji="1" lang="ja-JP" altLang="en-US" sz="1200" dirty="0"/>
                        <a:t>チーム力と持続性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効果的なチーム</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・チーム意識　・技能多様性　</a:t>
                      </a:r>
                      <a:r>
                        <a:rPr lang="ja-JP" altLang="en-US" sz="1200" dirty="0"/>
                        <a:t> ・</a:t>
                      </a:r>
                      <a:r>
                        <a:rPr kumimoji="1" lang="ja-JP" altLang="en-US" sz="1200" b="0" i="0" u="none" strike="noStrike" kern="1200" dirty="0">
                          <a:solidFill>
                            <a:schemeClr val="tx1"/>
                          </a:solidFill>
                          <a:effectLst/>
                          <a:latin typeface="+mn-lt"/>
                          <a:ea typeface="+mn-ea"/>
                          <a:cs typeface="+mn-cs"/>
                        </a:rPr>
                        <a:t>タスク完結性</a:t>
                      </a:r>
                      <a:r>
                        <a:rPr lang="ja-JP" altLang="en-US" sz="1200" dirty="0"/>
                        <a:t> 　・</a:t>
                      </a:r>
                      <a:r>
                        <a:rPr kumimoji="1" lang="ja-JP" altLang="en-US" sz="1200" b="0" i="0" u="none" strike="noStrike" kern="1200" dirty="0">
                          <a:solidFill>
                            <a:schemeClr val="tx1"/>
                          </a:solidFill>
                          <a:effectLst/>
                          <a:latin typeface="+mn-lt"/>
                          <a:ea typeface="+mn-ea"/>
                          <a:cs typeface="+mn-cs"/>
                        </a:rPr>
                        <a:t>タスク重要性</a:t>
                      </a:r>
                      <a:r>
                        <a:rPr lang="ja-JP" altLang="en-US" sz="1200" dirty="0"/>
                        <a:t> ・</a:t>
                      </a:r>
                      <a:r>
                        <a:rPr kumimoji="1" lang="ja-JP" altLang="en-US" sz="1200" b="0" i="0" u="none" strike="noStrike" kern="1200" dirty="0">
                          <a:solidFill>
                            <a:schemeClr val="tx1"/>
                          </a:solidFill>
                          <a:effectLst/>
                          <a:latin typeface="+mn-lt"/>
                          <a:ea typeface="+mn-ea"/>
                          <a:cs typeface="+mn-cs"/>
                        </a:rPr>
                        <a:t>自由、決定権があるか（自律性）</a:t>
                      </a:r>
                      <a:r>
                        <a:rPr lang="ja-JP" altLang="en-US" sz="1200" dirty="0"/>
                        <a:t> ・</a:t>
                      </a:r>
                      <a:r>
                        <a:rPr kumimoji="1" lang="ja-JP" altLang="en-US" sz="1200" b="0" i="0" u="none" strike="noStrike" kern="1200" dirty="0">
                          <a:solidFill>
                            <a:schemeClr val="tx1"/>
                          </a:solidFill>
                          <a:effectLst/>
                          <a:latin typeface="+mn-lt"/>
                          <a:ea typeface="+mn-ea"/>
                          <a:cs typeface="+mn-cs"/>
                        </a:rPr>
                        <a:t>フィードバックはあるか</a:t>
                      </a:r>
                      <a:r>
                        <a:rPr lang="ja-JP" altLang="en-US" sz="1200" dirty="0"/>
                        <a:t> 　・</a:t>
                      </a:r>
                      <a:r>
                        <a:rPr kumimoji="1" lang="ja-JP" altLang="en-US" sz="1200" b="0" i="0" u="none" strike="noStrike" kern="1200" dirty="0">
                          <a:solidFill>
                            <a:schemeClr val="tx1"/>
                          </a:solidFill>
                          <a:effectLst/>
                          <a:latin typeface="+mn-lt"/>
                          <a:ea typeface="+mn-ea"/>
                          <a:cs typeface="+mn-cs"/>
                        </a:rPr>
                        <a:t>社会的手抜き</a:t>
                      </a:r>
                      <a:r>
                        <a:rPr lang="ja-JP" altLang="en-US" sz="1200" dirty="0"/>
                        <a:t> ・</a:t>
                      </a:r>
                      <a:r>
                        <a:rPr kumimoji="1" lang="ja-JP" altLang="en-US" sz="1200" b="0" i="0" u="none" strike="noStrike" kern="1200" dirty="0">
                          <a:solidFill>
                            <a:schemeClr val="tx1"/>
                          </a:solidFill>
                          <a:effectLst/>
                          <a:latin typeface="+mn-lt"/>
                          <a:ea typeface="+mn-ea"/>
                          <a:cs typeface="+mn-cs"/>
                        </a:rPr>
                        <a:t>十分な資源</a:t>
                      </a:r>
                      <a:r>
                        <a:rPr lang="ja-JP" altLang="en-US" sz="1200" dirty="0"/>
                        <a:t> ・</a:t>
                      </a:r>
                      <a:r>
                        <a:rPr kumimoji="1" lang="ja-JP" altLang="en-US" sz="1200" b="0" i="0" u="none" strike="noStrike" kern="1200" dirty="0">
                          <a:solidFill>
                            <a:schemeClr val="tx1"/>
                          </a:solidFill>
                          <a:effectLst/>
                          <a:latin typeface="+mn-lt"/>
                          <a:ea typeface="+mn-ea"/>
                          <a:cs typeface="+mn-cs"/>
                        </a:rPr>
                        <a:t>効果的なリーダーシップ</a:t>
                      </a:r>
                      <a:r>
                        <a:rPr lang="ja-JP" altLang="en-US" sz="1200" dirty="0"/>
                        <a:t> ・</a:t>
                      </a:r>
                      <a:r>
                        <a:rPr kumimoji="1" lang="ja-JP" altLang="en-US" sz="1200" b="0" i="0" u="none" strike="noStrike" kern="1200" dirty="0">
                          <a:solidFill>
                            <a:schemeClr val="tx1"/>
                          </a:solidFill>
                          <a:effectLst/>
                          <a:latin typeface="+mn-lt"/>
                          <a:ea typeface="+mn-ea"/>
                          <a:cs typeface="+mn-cs"/>
                        </a:rPr>
                        <a:t>信頼関係のある環境</a:t>
                      </a:r>
                      <a:r>
                        <a:rPr lang="ja-JP" altLang="en-US" sz="1200" dirty="0"/>
                        <a:t> ・</a:t>
                      </a:r>
                      <a:r>
                        <a:rPr kumimoji="1" lang="ja-JP" altLang="en-US" sz="1200" b="0" i="0" u="none" strike="noStrike" kern="1200" dirty="0">
                          <a:solidFill>
                            <a:schemeClr val="tx1"/>
                          </a:solidFill>
                          <a:effectLst/>
                          <a:latin typeface="+mn-lt"/>
                          <a:ea typeface="+mn-ea"/>
                          <a:cs typeface="+mn-cs"/>
                        </a:rPr>
                        <a:t>業績評価と報酬システム</a:t>
                      </a:r>
                      <a:r>
                        <a:rPr lang="ja-JP" altLang="en-US" sz="1200" dirty="0"/>
                        <a:t> ・</a:t>
                      </a:r>
                      <a:r>
                        <a:rPr kumimoji="1" lang="ja-JP" altLang="en-US" sz="1200" b="0" i="0" u="none" strike="noStrike" kern="1200" dirty="0">
                          <a:solidFill>
                            <a:schemeClr val="tx1"/>
                          </a:solidFill>
                          <a:effectLst/>
                          <a:latin typeface="+mn-lt"/>
                          <a:ea typeface="+mn-ea"/>
                          <a:cs typeface="+mn-cs"/>
                        </a:rPr>
                        <a:t>メンバーの能力</a:t>
                      </a:r>
                      <a:r>
                        <a:rPr lang="ja-JP" altLang="en-US" sz="1200" dirty="0"/>
                        <a:t> ・</a:t>
                      </a:r>
                      <a:r>
                        <a:rPr kumimoji="1" lang="ja-JP" altLang="en-US" sz="1200" b="0" i="0" u="none" strike="noStrike" kern="1200" dirty="0">
                          <a:solidFill>
                            <a:schemeClr val="tx1"/>
                          </a:solidFill>
                          <a:effectLst/>
                          <a:latin typeface="+mn-lt"/>
                          <a:ea typeface="+mn-ea"/>
                          <a:cs typeface="+mn-cs"/>
                        </a:rPr>
                        <a:t>パーソナリティ</a:t>
                      </a:r>
                      <a:r>
                        <a:rPr lang="ja-JP" altLang="en-US" sz="1200" dirty="0"/>
                        <a:t> </a:t>
                      </a:r>
                      <a:r>
                        <a:rPr kumimoji="1" lang="ja-JP" altLang="en-US" sz="1200" b="0" i="0" u="none" strike="noStrike" kern="1200" dirty="0">
                          <a:solidFill>
                            <a:schemeClr val="tx1"/>
                          </a:solidFill>
                          <a:effectLst/>
                          <a:latin typeface="+mn-lt"/>
                          <a:ea typeface="+mn-ea"/>
                          <a:cs typeface="+mn-cs"/>
                        </a:rPr>
                        <a:t>役割の割り当て</a:t>
                      </a:r>
                      <a:r>
                        <a:rPr lang="ja-JP" altLang="en-US" sz="1200" dirty="0"/>
                        <a:t> ・</a:t>
                      </a:r>
                      <a:r>
                        <a:rPr kumimoji="1" lang="ja-JP" altLang="en-US" sz="1200" b="0" i="0" u="none" strike="noStrike" kern="1200" dirty="0">
                          <a:solidFill>
                            <a:schemeClr val="tx1"/>
                          </a:solidFill>
                          <a:effectLst/>
                          <a:latin typeface="+mn-lt"/>
                          <a:ea typeface="+mn-ea"/>
                          <a:cs typeface="+mn-cs"/>
                        </a:rPr>
                        <a:t>多様性</a:t>
                      </a:r>
                      <a:r>
                        <a:rPr lang="ja-JP" altLang="en-US" sz="1200" dirty="0"/>
                        <a:t> ・</a:t>
                      </a:r>
                      <a:r>
                        <a:rPr kumimoji="1" lang="ja-JP" altLang="en-US" sz="1200" b="0" i="0" u="none" strike="noStrike" kern="1200" dirty="0">
                          <a:solidFill>
                            <a:schemeClr val="tx1"/>
                          </a:solidFill>
                          <a:effectLst/>
                          <a:latin typeface="+mn-lt"/>
                          <a:ea typeface="+mn-ea"/>
                          <a:cs typeface="+mn-cs"/>
                        </a:rPr>
                        <a:t>チームの規模</a:t>
                      </a:r>
                      <a:r>
                        <a:rPr lang="ja-JP" altLang="en-US" sz="1200" dirty="0"/>
                        <a:t> ・</a:t>
                      </a:r>
                      <a:r>
                        <a:rPr kumimoji="1" lang="ja-JP" altLang="en-US" sz="1200" b="0" i="0" u="none" strike="noStrike" kern="1200" dirty="0">
                          <a:solidFill>
                            <a:schemeClr val="tx1"/>
                          </a:solidFill>
                          <a:effectLst/>
                          <a:latin typeface="+mn-lt"/>
                          <a:ea typeface="+mn-ea"/>
                          <a:cs typeface="+mn-cs"/>
                        </a:rPr>
                        <a:t>メンバーの柔軟性</a:t>
                      </a:r>
                      <a:r>
                        <a:rPr lang="ja-JP" altLang="en-US" sz="1200" dirty="0"/>
                        <a:t> ・</a:t>
                      </a:r>
                      <a:r>
                        <a:rPr kumimoji="1" lang="ja-JP" altLang="en-US" sz="1200" b="0" i="0" u="none" strike="noStrike" kern="1200" dirty="0">
                          <a:solidFill>
                            <a:schemeClr val="tx1"/>
                          </a:solidFill>
                          <a:effectLst/>
                          <a:latin typeface="+mn-lt"/>
                          <a:ea typeface="+mn-ea"/>
                          <a:cs typeface="+mn-cs"/>
                        </a:rPr>
                        <a:t>メンバーの嗜好</a:t>
                      </a:r>
                      <a:r>
                        <a:rPr lang="ja-JP" altLang="en-US" sz="1200" dirty="0"/>
                        <a:t> ・</a:t>
                      </a:r>
                      <a:r>
                        <a:rPr kumimoji="1" lang="ja-JP" altLang="en-US" sz="1200" b="0" i="0" u="none" strike="noStrike" kern="1200" dirty="0">
                          <a:solidFill>
                            <a:schemeClr val="tx1"/>
                          </a:solidFill>
                          <a:effectLst/>
                          <a:latin typeface="+mn-lt"/>
                          <a:ea typeface="+mn-ea"/>
                          <a:cs typeface="+mn-cs"/>
                        </a:rPr>
                        <a:t>共通の目的</a:t>
                      </a:r>
                      <a:r>
                        <a:rPr lang="ja-JP" altLang="en-US" sz="1200" dirty="0"/>
                        <a:t> ・</a:t>
                      </a:r>
                      <a:r>
                        <a:rPr kumimoji="1" lang="ja-JP" altLang="en-US" sz="1200" b="0" i="0" u="none" strike="noStrike" kern="1200" dirty="0">
                          <a:solidFill>
                            <a:schemeClr val="tx1"/>
                          </a:solidFill>
                          <a:effectLst/>
                          <a:latin typeface="+mn-lt"/>
                          <a:ea typeface="+mn-ea"/>
                          <a:cs typeface="+mn-cs"/>
                        </a:rPr>
                        <a:t>具体的な目標</a:t>
                      </a:r>
                      <a:r>
                        <a:rPr lang="ja-JP" altLang="en-US" sz="1200" dirty="0"/>
                        <a:t> ・</a:t>
                      </a:r>
                      <a:r>
                        <a:rPr kumimoji="1" lang="ja-JP" altLang="en-US" sz="1200" b="0" i="0" u="none" strike="noStrike" kern="1200" dirty="0">
                          <a:solidFill>
                            <a:schemeClr val="tx1"/>
                          </a:solidFill>
                          <a:effectLst/>
                          <a:latin typeface="+mn-lt"/>
                          <a:ea typeface="+mn-ea"/>
                          <a:cs typeface="+mn-cs"/>
                        </a:rPr>
                        <a:t>チームの自信感</a:t>
                      </a:r>
                      <a:r>
                        <a:rPr lang="ja-JP" altLang="en-US" sz="1200" dirty="0"/>
                        <a:t> ・</a:t>
                      </a:r>
                      <a:r>
                        <a:rPr kumimoji="1" lang="ja-JP" altLang="en-US" sz="1200" b="0" i="0" u="none" strike="noStrike" kern="1200" dirty="0">
                          <a:solidFill>
                            <a:schemeClr val="tx1"/>
                          </a:solidFill>
                          <a:effectLst/>
                          <a:latin typeface="+mn-lt"/>
                          <a:ea typeface="+mn-ea"/>
                          <a:cs typeface="+mn-cs"/>
                        </a:rPr>
                        <a:t>コンフリクトの程度</a:t>
                      </a:r>
                      <a:r>
                        <a:rPr lang="ja-JP" altLang="en-US" sz="1200" dirty="0"/>
                        <a:t> </a:t>
                      </a:r>
                      <a:endParaRPr kumimoji="1" lang="ja-JP" altLang="en-US" sz="1200" dirty="0"/>
                    </a:p>
                    <a:p>
                      <a:endParaRPr kumimoji="1" lang="ja-JP" altLang="en-US" sz="1200" dirty="0"/>
                    </a:p>
                  </a:txBody>
                  <a:tcPr/>
                </a:tc>
                <a:extLst>
                  <a:ext uri="{0D108BD9-81ED-4DB2-BD59-A6C34878D82A}">
                    <a16:rowId xmlns:a16="http://schemas.microsoft.com/office/drawing/2014/main" val="588821352"/>
                  </a:ext>
                </a:extLst>
              </a:tr>
              <a:tr h="37084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貢献意欲</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a:t>
                      </a:r>
                      <a:r>
                        <a:rPr kumimoji="1" lang="ja-JP" altLang="en-US" sz="1200" b="0" i="0" u="none" strike="noStrike" kern="1200" dirty="0">
                          <a:solidFill>
                            <a:schemeClr val="tx1"/>
                          </a:solidFill>
                          <a:effectLst/>
                          <a:latin typeface="+mn-lt"/>
                          <a:ea typeface="+mn-ea"/>
                          <a:cs typeface="+mn-cs"/>
                        </a:rPr>
                        <a:t>組織市民行動（貢献意欲）</a:t>
                      </a:r>
                      <a:r>
                        <a:rPr lang="ja-JP" altLang="en-US" sz="1200" dirty="0"/>
                        <a:t> </a:t>
                      </a:r>
                      <a:r>
                        <a:rPr kumimoji="1" lang="ja-JP" altLang="en-US" sz="1200" b="0" i="0" u="none" strike="noStrike" kern="1200" dirty="0">
                          <a:solidFill>
                            <a:schemeClr val="tx1"/>
                          </a:solidFill>
                          <a:effectLst/>
                          <a:latin typeface="+mn-lt"/>
                          <a:ea typeface="+mn-ea"/>
                          <a:cs typeface="+mn-cs"/>
                        </a:rPr>
                        <a:t>・職務満足度</a:t>
                      </a:r>
                      <a:r>
                        <a:rPr lang="ja-JP" altLang="en-US" sz="1200" dirty="0"/>
                        <a:t> ・</a:t>
                      </a:r>
                      <a:r>
                        <a:rPr kumimoji="1" lang="ja-JP" altLang="en-US" sz="1200" b="0" i="0" u="none" strike="noStrike" kern="1200" dirty="0">
                          <a:solidFill>
                            <a:schemeClr val="tx1"/>
                          </a:solidFill>
                          <a:effectLst/>
                          <a:latin typeface="+mn-lt"/>
                          <a:ea typeface="+mn-ea"/>
                          <a:cs typeface="+mn-cs"/>
                        </a:rPr>
                        <a:t>公平な評価</a:t>
                      </a:r>
                      <a:r>
                        <a:rPr lang="ja-JP" altLang="en-US" sz="1200" dirty="0"/>
                        <a:t> </a:t>
                      </a:r>
                      <a:endParaRPr kumimoji="1" lang="ja-JP" altLang="en-US" sz="1200" dirty="0"/>
                    </a:p>
                    <a:p>
                      <a:endParaRPr kumimoji="1" lang="ja-JP" altLang="en-US" sz="1200" dirty="0"/>
                    </a:p>
                  </a:txBody>
                  <a:tcPr/>
                </a:tc>
                <a:extLst>
                  <a:ext uri="{0D108BD9-81ED-4DB2-BD59-A6C34878D82A}">
                    <a16:rowId xmlns:a16="http://schemas.microsoft.com/office/drawing/2014/main" val="467939205"/>
                  </a:ext>
                </a:extLst>
              </a:tr>
              <a:tr h="37084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勤続意思</a:t>
                      </a:r>
                    </a:p>
                    <a:p>
                      <a:pPr algn="l"/>
                      <a:endParaRPr kumimoji="1" lang="ja-JP" altLang="en-US"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ＭＳ Ｐゴシック" panose="020B0600070205080204" pitchFamily="50" charset="-128"/>
                          <a:ea typeface="+mn-ea"/>
                        </a:rPr>
                        <a:t>・勤続意思</a:t>
                      </a:r>
                    </a:p>
                    <a:p>
                      <a:endParaRPr kumimoji="1" lang="ja-JP" altLang="en-US" sz="1200" dirty="0"/>
                    </a:p>
                  </a:txBody>
                  <a:tcPr/>
                </a:tc>
                <a:extLst>
                  <a:ext uri="{0D108BD9-81ED-4DB2-BD59-A6C34878D82A}">
                    <a16:rowId xmlns:a16="http://schemas.microsoft.com/office/drawing/2014/main" val="2678720244"/>
                  </a:ext>
                </a:extLst>
              </a:tr>
            </a:tbl>
          </a:graphicData>
        </a:graphic>
      </p:graphicFrame>
    </p:spTree>
    <p:extLst>
      <p:ext uri="{BB962C8B-B14F-4D97-AF65-F5344CB8AC3E}">
        <p14:creationId xmlns:p14="http://schemas.microsoft.com/office/powerpoint/2010/main" val="318969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実施対象者</a:t>
            </a:r>
            <a:endParaRPr kumimoji="1" lang="ja-JP" altLang="en-US" dirty="0"/>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5</a:t>
            </a:fld>
            <a:endParaRPr lang="en-US" dirty="0"/>
          </a:p>
        </p:txBody>
      </p:sp>
      <p:graphicFrame>
        <p:nvGraphicFramePr>
          <p:cNvPr id="4" name="表 3"/>
          <p:cNvGraphicFramePr>
            <a:graphicFrameLocks noGrp="1"/>
          </p:cNvGraphicFramePr>
          <p:nvPr>
            <p:extLst>
              <p:ext uri="{D42A27DB-BD31-4B8C-83A1-F6EECF244321}">
                <p14:modId xmlns:p14="http://schemas.microsoft.com/office/powerpoint/2010/main" val="1974404863"/>
              </p:ext>
            </p:extLst>
          </p:nvPr>
        </p:nvGraphicFramePr>
        <p:xfrm>
          <a:off x="1357645" y="1683889"/>
          <a:ext cx="9072000" cy="3880618"/>
        </p:xfrm>
        <a:graphic>
          <a:graphicData uri="http://schemas.openxmlformats.org/drawingml/2006/table">
            <a:tbl>
              <a:tblPr firstRow="1" bandRow="1">
                <a:tableStyleId>{5940675A-B579-460E-94D1-54222C63F5DA}</a:tableStyleId>
              </a:tblPr>
              <a:tblGrid>
                <a:gridCol w="2052000">
                  <a:extLst>
                    <a:ext uri="{9D8B030D-6E8A-4147-A177-3AD203B41FA5}">
                      <a16:colId xmlns:a16="http://schemas.microsoft.com/office/drawing/2014/main" val="1748443930"/>
                    </a:ext>
                  </a:extLst>
                </a:gridCol>
                <a:gridCol w="2052000">
                  <a:extLst>
                    <a:ext uri="{9D8B030D-6E8A-4147-A177-3AD203B41FA5}">
                      <a16:colId xmlns:a16="http://schemas.microsoft.com/office/drawing/2014/main" val="3375462315"/>
                    </a:ext>
                  </a:extLst>
                </a:gridCol>
                <a:gridCol w="1656000">
                  <a:extLst>
                    <a:ext uri="{9D8B030D-6E8A-4147-A177-3AD203B41FA5}">
                      <a16:colId xmlns:a16="http://schemas.microsoft.com/office/drawing/2014/main" val="210466156"/>
                    </a:ext>
                  </a:extLst>
                </a:gridCol>
                <a:gridCol w="1656000">
                  <a:extLst>
                    <a:ext uri="{9D8B030D-6E8A-4147-A177-3AD203B41FA5}">
                      <a16:colId xmlns:a16="http://schemas.microsoft.com/office/drawing/2014/main" val="248592072"/>
                    </a:ext>
                  </a:extLst>
                </a:gridCol>
                <a:gridCol w="1656000">
                  <a:extLst>
                    <a:ext uri="{9D8B030D-6E8A-4147-A177-3AD203B41FA5}">
                      <a16:colId xmlns:a16="http://schemas.microsoft.com/office/drawing/2014/main" val="4043494048"/>
                    </a:ext>
                  </a:extLst>
                </a:gridCol>
              </a:tblGrid>
              <a:tr h="385829">
                <a:tc rowSpan="2">
                  <a:txBody>
                    <a:bodyPr/>
                    <a:lstStyle/>
                    <a:p>
                      <a:pPr algn="ctr"/>
                      <a:r>
                        <a:rPr kumimoji="1" lang="ja-JP" altLang="en-US" sz="1400" dirty="0"/>
                        <a:t>コンセプト</a:t>
                      </a:r>
                    </a:p>
                  </a:txBody>
                  <a:tcPr anchor="ctr">
                    <a:solidFill>
                      <a:schemeClr val="accent1">
                        <a:lumMod val="20000"/>
                        <a:lumOff val="80000"/>
                      </a:schemeClr>
                    </a:solidFill>
                  </a:tcPr>
                </a:tc>
                <a:tc rowSpan="2">
                  <a:txBody>
                    <a:bodyPr/>
                    <a:lstStyle/>
                    <a:p>
                      <a:pPr algn="ctr"/>
                      <a:r>
                        <a:rPr kumimoji="1" lang="ja-JP" altLang="en-US" sz="1400" dirty="0"/>
                        <a:t>カテゴリー（要因）</a:t>
                      </a:r>
                    </a:p>
                  </a:txBody>
                  <a:tcPr anchor="ctr">
                    <a:solidFill>
                      <a:schemeClr val="accent1">
                        <a:lumMod val="20000"/>
                        <a:lumOff val="80000"/>
                      </a:schemeClr>
                    </a:solidFill>
                  </a:tcPr>
                </a:tc>
                <a:tc gridSpan="3">
                  <a:txBody>
                    <a:bodyPr/>
                    <a:lstStyle/>
                    <a:p>
                      <a:pPr algn="ctr"/>
                      <a:r>
                        <a:rPr kumimoji="1" lang="ja-JP" altLang="en-US" sz="1400" dirty="0"/>
                        <a:t>対象者</a:t>
                      </a:r>
                    </a:p>
                  </a:txBody>
                  <a:tcPr anchor="ctr">
                    <a:solidFill>
                      <a:schemeClr val="accent1">
                        <a:lumMod val="20000"/>
                        <a:lumOff val="80000"/>
                      </a:schemeClr>
                    </a:solidFill>
                  </a:tcPr>
                </a:tc>
                <a:tc hMerge="1">
                  <a:txBody>
                    <a:bodyPr/>
                    <a:lstStyle/>
                    <a:p>
                      <a:pPr algn="ctr"/>
                      <a:endParaRPr kumimoji="1" lang="ja-JP" altLang="en-US" sz="1200" dirty="0"/>
                    </a:p>
                  </a:txBody>
                  <a:tcPr anchor="ctr">
                    <a:solidFill>
                      <a:schemeClr val="accent1">
                        <a:lumMod val="20000"/>
                        <a:lumOff val="80000"/>
                      </a:schemeClr>
                    </a:solidFill>
                  </a:tcPr>
                </a:tc>
                <a:tc hMerge="1">
                  <a:txBody>
                    <a:bodyPr/>
                    <a:lstStyle/>
                    <a:p>
                      <a:pPr algn="ctr"/>
                      <a:endParaRPr kumimoji="1" lang="ja-JP" altLang="en-US" sz="1200" dirty="0"/>
                    </a:p>
                  </a:txBody>
                  <a:tcPr anchor="ctr">
                    <a:solidFill>
                      <a:schemeClr val="accent1">
                        <a:lumMod val="20000"/>
                        <a:lumOff val="80000"/>
                      </a:schemeClr>
                    </a:solidFill>
                  </a:tcPr>
                </a:tc>
                <a:extLst>
                  <a:ext uri="{0D108BD9-81ED-4DB2-BD59-A6C34878D82A}">
                    <a16:rowId xmlns:a16="http://schemas.microsoft.com/office/drawing/2014/main" val="2631433259"/>
                  </a:ext>
                </a:extLst>
              </a:tr>
              <a:tr h="385829">
                <a:tc vMerge="1">
                  <a:txBody>
                    <a:bodyPr/>
                    <a:lstStyle/>
                    <a:p>
                      <a:pPr algn="ctr"/>
                      <a:endParaRPr kumimoji="1" lang="ja-JP" altLang="en-US" sz="1200" dirty="0"/>
                    </a:p>
                  </a:txBody>
                  <a:tcPr anchor="ctr">
                    <a:solidFill>
                      <a:schemeClr val="accent1">
                        <a:lumMod val="20000"/>
                        <a:lumOff val="80000"/>
                      </a:schemeClr>
                    </a:solidFill>
                  </a:tcPr>
                </a:tc>
                <a:tc vMerge="1">
                  <a:txBody>
                    <a:bodyPr/>
                    <a:lstStyle/>
                    <a:p>
                      <a:pPr algn="ctr"/>
                      <a:endParaRPr kumimoji="1" lang="ja-JP" altLang="en-US" sz="1200" dirty="0"/>
                    </a:p>
                  </a:txBody>
                  <a:tcPr anchor="ctr">
                    <a:solidFill>
                      <a:schemeClr val="accent1">
                        <a:lumMod val="20000"/>
                        <a:lumOff val="80000"/>
                      </a:schemeClr>
                    </a:solidFill>
                  </a:tcPr>
                </a:tc>
                <a:tc>
                  <a:txBody>
                    <a:bodyPr/>
                    <a:lstStyle/>
                    <a:p>
                      <a:pPr algn="ctr"/>
                      <a:r>
                        <a:rPr kumimoji="1" lang="ja-JP" altLang="en-US" sz="1400" dirty="0"/>
                        <a:t>店長</a:t>
                      </a:r>
                    </a:p>
                  </a:txBody>
                  <a:tcPr anchor="ctr">
                    <a:solidFill>
                      <a:schemeClr val="accent1">
                        <a:lumMod val="20000"/>
                        <a:lumOff val="80000"/>
                      </a:schemeClr>
                    </a:solidFill>
                  </a:tcPr>
                </a:tc>
                <a:tc>
                  <a:txBody>
                    <a:bodyPr/>
                    <a:lstStyle/>
                    <a:p>
                      <a:pPr algn="ctr"/>
                      <a:r>
                        <a:rPr kumimoji="1" lang="ja-JP" altLang="en-US" sz="1400" dirty="0"/>
                        <a:t>社員</a:t>
                      </a:r>
                    </a:p>
                  </a:txBody>
                  <a:tcPr anchor="ctr">
                    <a:solidFill>
                      <a:schemeClr val="accent1">
                        <a:lumMod val="20000"/>
                        <a:lumOff val="80000"/>
                      </a:schemeClr>
                    </a:solidFill>
                  </a:tcPr>
                </a:tc>
                <a:tc>
                  <a:txBody>
                    <a:bodyPr/>
                    <a:lstStyle/>
                    <a:p>
                      <a:pPr algn="ctr"/>
                      <a:r>
                        <a:rPr kumimoji="1" lang="ja-JP" altLang="en-US" sz="1400" dirty="0"/>
                        <a:t>パート・アルバイト</a:t>
                      </a:r>
                    </a:p>
                  </a:txBody>
                  <a:tcPr anchor="ctr">
                    <a:solidFill>
                      <a:schemeClr val="accent1">
                        <a:lumMod val="20000"/>
                        <a:lumOff val="80000"/>
                      </a:schemeClr>
                    </a:solidFill>
                  </a:tcPr>
                </a:tc>
                <a:extLst>
                  <a:ext uri="{0D108BD9-81ED-4DB2-BD59-A6C34878D82A}">
                    <a16:rowId xmlns:a16="http://schemas.microsoft.com/office/drawing/2014/main" val="1402241228"/>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組織活性化の源泉</a:t>
                      </a:r>
                      <a:endParaRPr kumimoji="1" lang="ja-JP" altLang="en-US" sz="1400" dirty="0"/>
                    </a:p>
                  </a:txBody>
                  <a:tcPr anchor="ctr"/>
                </a:tc>
                <a:tc>
                  <a:txBody>
                    <a:bodyPr/>
                    <a:lstStyle/>
                    <a:p>
                      <a:pPr algn="l"/>
                      <a:r>
                        <a:rPr kumimoji="1" lang="ja-JP" altLang="en-US" sz="1400" dirty="0">
                          <a:latin typeface="+mn-ea"/>
                          <a:ea typeface="+mn-ea"/>
                        </a:rPr>
                        <a:t>会社満足度</a:t>
                      </a:r>
                      <a:endParaRPr kumimoji="1" lang="en-US" altLang="ja-JP" sz="1400" dirty="0">
                        <a:latin typeface="+mn-ea"/>
                        <a:ea typeface="+mn-ea"/>
                      </a:endParaRPr>
                    </a:p>
                    <a:p>
                      <a:pPr algn="l"/>
                      <a:r>
                        <a:rPr kumimoji="1" lang="ja-JP" altLang="en-US" sz="1400" dirty="0">
                          <a:latin typeface="+mn-ea"/>
                          <a:ea typeface="+mn-ea"/>
                        </a:rPr>
                        <a:t>職務満足度</a:t>
                      </a:r>
                    </a:p>
                  </a:txBody>
                  <a:tcPr anchor="ctr"/>
                </a:tc>
                <a:tc>
                  <a:txBody>
                    <a:bodyPr/>
                    <a:lstStyle/>
                    <a:p>
                      <a:pPr algn="ctr"/>
                      <a:r>
                        <a:rPr kumimoji="1" lang="ja-JP" altLang="en-US" sz="1800" dirty="0"/>
                        <a:t>○</a:t>
                      </a:r>
                    </a:p>
                  </a:txBody>
                  <a:tcPr anchor="ctr"/>
                </a:tc>
                <a:tc>
                  <a:txBody>
                    <a:bodyPr/>
                    <a:lstStyle/>
                    <a:p>
                      <a:pPr algn="ctr"/>
                      <a:r>
                        <a:rPr kumimoji="1" lang="ja-JP" altLang="en-US" sz="1800" dirty="0"/>
                        <a:t>（○）</a:t>
                      </a:r>
                      <a:r>
                        <a:rPr kumimoji="1" lang="ja-JP" altLang="en-US" sz="1400" dirty="0"/>
                        <a:t>一部なし</a:t>
                      </a:r>
                      <a:endParaRPr kumimoji="1" lang="ja-JP" altLang="en-US" sz="1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0000"/>
                          </a:solidFill>
                          <a:effectLst/>
                          <a:uLnTx/>
                          <a:uFillTx/>
                          <a:latin typeface="+mn-lt"/>
                          <a:ea typeface="+mn-ea"/>
                          <a:cs typeface="+mn-cs"/>
                        </a:rPr>
                        <a:t>（○）</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一部なし</a:t>
                      </a:r>
                      <a:endParaRPr kumimoji="1" lang="ja-JP" alt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2571247664"/>
                  </a:ext>
                </a:extLst>
              </a:tr>
              <a:tr h="36000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収益性向上に繋がるエンゲージメント</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理念・ビジョンへの共感</a:t>
                      </a:r>
                    </a:p>
                    <a:p>
                      <a:pPr algn="l"/>
                      <a:endParaRPr kumimoji="1" lang="ja-JP" altLang="en-US" sz="1400" dirty="0"/>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extLst>
                  <a:ext uri="{0D108BD9-81ED-4DB2-BD59-A6C34878D82A}">
                    <a16:rowId xmlns:a16="http://schemas.microsoft.com/office/drawing/2014/main" val="1415370837"/>
                  </a:ext>
                </a:extLst>
              </a:tr>
              <a:tr h="36000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顧客視点意識</a:t>
                      </a:r>
                    </a:p>
                    <a:p>
                      <a:pPr algn="l"/>
                      <a:endParaRPr kumimoji="1" lang="ja-JP" altLang="en-US" sz="1400" dirty="0"/>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extLst>
                  <a:ext uri="{0D108BD9-81ED-4DB2-BD59-A6C34878D82A}">
                    <a16:rowId xmlns:a16="http://schemas.microsoft.com/office/drawing/2014/main" val="1460766126"/>
                  </a:ext>
                </a:extLst>
              </a:tr>
              <a:tr h="360000">
                <a:tc rowSpan="3">
                  <a:txBody>
                    <a:bodyPr/>
                    <a:lstStyle/>
                    <a:p>
                      <a:pPr algn="ctr"/>
                      <a:r>
                        <a:rPr kumimoji="1" lang="ja-JP" altLang="en-US" sz="1400" dirty="0"/>
                        <a:t>業績拡大に繋がる</a:t>
                      </a:r>
                      <a:endParaRPr kumimoji="1" lang="en-US" altLang="ja-JP" sz="1400" dirty="0"/>
                    </a:p>
                    <a:p>
                      <a:pPr algn="ctr"/>
                      <a:r>
                        <a:rPr kumimoji="1" lang="ja-JP" altLang="en-US" sz="1400" dirty="0"/>
                        <a:t>チーム力と持続性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効果的なチーム</a:t>
                      </a:r>
                    </a:p>
                    <a:p>
                      <a:pPr algn="l"/>
                      <a:endParaRPr kumimoji="1" lang="ja-JP" altLang="en-US" sz="1400" dirty="0"/>
                    </a:p>
                  </a:txBody>
                  <a:tcPr anchor="ctr"/>
                </a:tc>
                <a:tc>
                  <a:txBody>
                    <a:bodyPr/>
                    <a:lstStyle/>
                    <a:p>
                      <a:pPr algn="ctr"/>
                      <a:r>
                        <a:rPr kumimoji="1" lang="ja-JP" altLang="en-US" sz="1800" dirty="0"/>
                        <a:t>○</a:t>
                      </a:r>
                    </a:p>
                  </a:txBody>
                  <a:tcPr anchor="ctr"/>
                </a:tc>
                <a:tc>
                  <a:txBody>
                    <a:bodyPr/>
                    <a:lstStyle/>
                    <a:p>
                      <a:pPr algn="ctr"/>
                      <a:r>
                        <a:rPr kumimoji="1" lang="ja-JP" altLang="en-US" sz="1800" dirty="0"/>
                        <a:t>（○）</a:t>
                      </a:r>
                      <a:r>
                        <a:rPr kumimoji="1" lang="ja-JP" altLang="en-US" sz="1400" dirty="0"/>
                        <a:t>一部なし</a:t>
                      </a:r>
                      <a:endParaRPr kumimoji="1" lang="ja-JP" altLang="en-US" sz="1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0000"/>
                          </a:solidFill>
                          <a:effectLst/>
                          <a:uLnTx/>
                          <a:uFillTx/>
                          <a:latin typeface="+mn-lt"/>
                          <a:ea typeface="+mn-ea"/>
                          <a:cs typeface="+mn-cs"/>
                        </a:rPr>
                        <a:t>（○）</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一部なし</a:t>
                      </a:r>
                      <a:endParaRPr kumimoji="1" lang="ja-JP" alt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588821352"/>
                  </a:ext>
                </a:extLst>
              </a:tr>
              <a:tr h="36000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貢献意欲</a:t>
                      </a:r>
                    </a:p>
                    <a:p>
                      <a:pPr algn="l"/>
                      <a:endParaRPr kumimoji="1" lang="ja-JP" altLang="en-US" sz="1400" dirty="0"/>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extLst>
                  <a:ext uri="{0D108BD9-81ED-4DB2-BD59-A6C34878D82A}">
                    <a16:rowId xmlns:a16="http://schemas.microsoft.com/office/drawing/2014/main" val="467939205"/>
                  </a:ext>
                </a:extLst>
              </a:tr>
              <a:tr h="360000">
                <a:tc vMerge="1">
                  <a:txBody>
                    <a:bodyPr/>
                    <a:lstStyle/>
                    <a:p>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勤続意思</a:t>
                      </a:r>
                    </a:p>
                    <a:p>
                      <a:pPr algn="l"/>
                      <a:endParaRPr kumimoji="1" lang="ja-JP" altLang="en-US" sz="1400" dirty="0"/>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tc>
                  <a:txBody>
                    <a:bodyPr/>
                    <a:lstStyle/>
                    <a:p>
                      <a:pPr algn="ctr"/>
                      <a:r>
                        <a:rPr kumimoji="1" lang="ja-JP" altLang="en-US" sz="1800" dirty="0"/>
                        <a:t>○</a:t>
                      </a:r>
                    </a:p>
                  </a:txBody>
                  <a:tcPr anchor="ctr"/>
                </a:tc>
                <a:extLst>
                  <a:ext uri="{0D108BD9-81ED-4DB2-BD59-A6C34878D82A}">
                    <a16:rowId xmlns:a16="http://schemas.microsoft.com/office/drawing/2014/main" val="2678720244"/>
                  </a:ext>
                </a:extLst>
              </a:tr>
            </a:tbl>
          </a:graphicData>
        </a:graphic>
      </p:graphicFrame>
    </p:spTree>
    <p:extLst>
      <p:ext uri="{BB962C8B-B14F-4D97-AF65-F5344CB8AC3E}">
        <p14:creationId xmlns:p14="http://schemas.microsoft.com/office/powerpoint/2010/main" val="419958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A650CB-EA5D-492E-8CC9-1654CE2D1D00}"/>
              </a:ext>
            </a:extLst>
          </p:cNvPr>
          <p:cNvSpPr>
            <a:spLocks noGrp="1"/>
          </p:cNvSpPr>
          <p:nvPr>
            <p:ph type="title"/>
          </p:nvPr>
        </p:nvSpPr>
        <p:spPr/>
        <p:txBody>
          <a:bodyPr>
            <a:normAutofit fontScale="90000"/>
          </a:bodyPr>
          <a:lstStyle/>
          <a:p>
            <a:r>
              <a:rPr lang="ja-JP" altLang="en-US" dirty="0"/>
              <a:t>診断のコンセプトと設問体系</a:t>
            </a:r>
            <a:r>
              <a:rPr lang="en-US" altLang="ja-JP" dirty="0"/>
              <a:t>_</a:t>
            </a:r>
            <a:r>
              <a:rPr lang="ja-JP" altLang="en-US" dirty="0"/>
              <a:t>抜粋</a:t>
            </a:r>
            <a:endParaRPr kumimoji="1" lang="ja-JP" altLang="en-US" dirty="0"/>
          </a:p>
        </p:txBody>
      </p:sp>
      <p:sp>
        <p:nvSpPr>
          <p:cNvPr id="3" name="スライド番号プレースホルダー 2">
            <a:extLst>
              <a:ext uri="{FF2B5EF4-FFF2-40B4-BE49-F238E27FC236}">
                <a16:creationId xmlns:a16="http://schemas.microsoft.com/office/drawing/2014/main" id="{BBA7D025-2E15-487E-825D-C40DEA38999D}"/>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4" name="図 3">
            <a:extLst>
              <a:ext uri="{FF2B5EF4-FFF2-40B4-BE49-F238E27FC236}">
                <a16:creationId xmlns:a16="http://schemas.microsoft.com/office/drawing/2014/main" id="{E048169C-5F92-4B70-8AF2-CEEEE652273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98954" y="1371600"/>
            <a:ext cx="10721532" cy="4787900"/>
          </a:xfrm>
          <a:prstGeom prst="flowChartDocument">
            <a:avLst/>
          </a:prstGeom>
          <a:ln>
            <a:solidFill>
              <a:schemeClr val="tx1"/>
            </a:solidFill>
          </a:ln>
        </p:spPr>
      </p:pic>
    </p:spTree>
    <p:extLst>
      <p:ext uri="{BB962C8B-B14F-4D97-AF65-F5344CB8AC3E}">
        <p14:creationId xmlns:p14="http://schemas.microsoft.com/office/powerpoint/2010/main" val="2944776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アンケートサンプル</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正方形/長方形 6"/>
          <p:cNvSpPr/>
          <p:nvPr/>
        </p:nvSpPr>
        <p:spPr>
          <a:xfrm>
            <a:off x="2062628" y="1109674"/>
            <a:ext cx="1082348" cy="307777"/>
          </a:xfrm>
          <a:prstGeom prst="rect">
            <a:avLst/>
          </a:prstGeom>
        </p:spPr>
        <p:txBody>
          <a:bodyPr wrap="none">
            <a:spAutoFit/>
          </a:bodyPr>
          <a:lstStyle/>
          <a:p>
            <a:r>
              <a:rPr kumimoji="1" lang="ja-JP" altLang="en-US" sz="1400" dirty="0"/>
              <a:t>＜店長用＞</a:t>
            </a:r>
          </a:p>
        </p:txBody>
      </p:sp>
      <p:sp>
        <p:nvSpPr>
          <p:cNvPr id="8" name="正方形/長方形 7"/>
          <p:cNvSpPr/>
          <p:nvPr/>
        </p:nvSpPr>
        <p:spPr>
          <a:xfrm>
            <a:off x="5775075" y="1109674"/>
            <a:ext cx="1082348" cy="307777"/>
          </a:xfrm>
          <a:prstGeom prst="rect">
            <a:avLst/>
          </a:prstGeom>
        </p:spPr>
        <p:txBody>
          <a:bodyPr wrap="none">
            <a:spAutoFit/>
          </a:bodyPr>
          <a:lstStyle/>
          <a:p>
            <a:r>
              <a:rPr kumimoji="1" lang="ja-JP" altLang="en-US" sz="1400" dirty="0"/>
              <a:t>＜社員用＞</a:t>
            </a:r>
          </a:p>
        </p:txBody>
      </p:sp>
      <p:sp>
        <p:nvSpPr>
          <p:cNvPr id="9" name="正方形/長方形 8"/>
          <p:cNvSpPr/>
          <p:nvPr/>
        </p:nvSpPr>
        <p:spPr>
          <a:xfrm>
            <a:off x="8532692" y="1119288"/>
            <a:ext cx="2114681" cy="307777"/>
          </a:xfrm>
          <a:prstGeom prst="rect">
            <a:avLst/>
          </a:prstGeom>
        </p:spPr>
        <p:txBody>
          <a:bodyPr wrap="none">
            <a:spAutoFit/>
          </a:bodyPr>
          <a:lstStyle/>
          <a:p>
            <a:r>
              <a:rPr kumimoji="1" lang="ja-JP" altLang="en-US" sz="1400" dirty="0"/>
              <a:t>＜パート･アルバイト用＞</a:t>
            </a:r>
          </a:p>
        </p:txBody>
      </p:sp>
      <p:pic>
        <p:nvPicPr>
          <p:cNvPr id="10" name="図 9">
            <a:extLst>
              <a:ext uri="{FF2B5EF4-FFF2-40B4-BE49-F238E27FC236}">
                <a16:creationId xmlns:a16="http://schemas.microsoft.com/office/drawing/2014/main" id="{07835B10-6A70-4D16-961D-52C88AD7DAD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57729" y="1426979"/>
            <a:ext cx="3314598" cy="4718428"/>
          </a:xfrm>
          <a:prstGeom prst="rect">
            <a:avLst/>
          </a:prstGeom>
          <a:ln>
            <a:solidFill>
              <a:schemeClr val="tx1"/>
            </a:solidFill>
          </a:ln>
        </p:spPr>
      </p:pic>
      <p:pic>
        <p:nvPicPr>
          <p:cNvPr id="11" name="図 10">
            <a:extLst>
              <a:ext uri="{FF2B5EF4-FFF2-40B4-BE49-F238E27FC236}">
                <a16:creationId xmlns:a16="http://schemas.microsoft.com/office/drawing/2014/main" id="{16245E7D-69DE-4A62-9E13-B8F11FAABA6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96694" y="1426979"/>
            <a:ext cx="3201106" cy="4696062"/>
          </a:xfrm>
          <a:prstGeom prst="rect">
            <a:avLst/>
          </a:prstGeom>
          <a:ln>
            <a:solidFill>
              <a:schemeClr val="tx1"/>
            </a:solidFill>
          </a:ln>
        </p:spPr>
      </p:pic>
      <p:pic>
        <p:nvPicPr>
          <p:cNvPr id="12" name="図 11">
            <a:extLst>
              <a:ext uri="{FF2B5EF4-FFF2-40B4-BE49-F238E27FC236}">
                <a16:creationId xmlns:a16="http://schemas.microsoft.com/office/drawing/2014/main" id="{2B1449A4-DE78-4E92-BA86-DB64DD548516}"/>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070868" y="1426980"/>
            <a:ext cx="3232131" cy="4696062"/>
          </a:xfrm>
          <a:prstGeom prst="rect">
            <a:avLst/>
          </a:prstGeom>
          <a:ln>
            <a:solidFill>
              <a:schemeClr val="tx1"/>
            </a:solidFill>
          </a:ln>
        </p:spPr>
      </p:pic>
    </p:spTree>
    <p:extLst>
      <p:ext uri="{BB962C8B-B14F-4D97-AF65-F5344CB8AC3E}">
        <p14:creationId xmlns:p14="http://schemas.microsoft.com/office/powerpoint/2010/main" val="661931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診断のアウトプット</a:t>
            </a:r>
          </a:p>
        </p:txBody>
      </p:sp>
      <p:sp>
        <p:nvSpPr>
          <p:cNvPr id="3" name="フローチャート: 書類 2"/>
          <p:cNvSpPr/>
          <p:nvPr/>
        </p:nvSpPr>
        <p:spPr>
          <a:xfrm>
            <a:off x="1177295" y="1403048"/>
            <a:ext cx="5194051" cy="4930259"/>
          </a:xfrm>
          <a:prstGeom prst="flowChartDocumen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spAutoFit/>
          </a:bodyPr>
          <a:lstStyle/>
          <a:p>
            <a:pPr>
              <a:lnSpc>
                <a:spcPct val="150000"/>
              </a:lnSpc>
            </a:pPr>
            <a:r>
              <a:rPr kumimoji="1" lang="ja-JP" altLang="en-US" sz="2800" dirty="0">
                <a:highlight>
                  <a:srgbClr val="008000"/>
                </a:highlight>
              </a:rPr>
              <a:t>＜見える化＞点数、分布</a:t>
            </a:r>
            <a:endParaRPr kumimoji="1" lang="en-US" altLang="ja-JP" sz="2800" dirty="0">
              <a:highlight>
                <a:srgbClr val="008000"/>
              </a:highlight>
            </a:endParaRPr>
          </a:p>
          <a:p>
            <a:pPr>
              <a:lnSpc>
                <a:spcPct val="150000"/>
              </a:lnSpc>
            </a:pPr>
            <a:r>
              <a:rPr kumimoji="1" lang="ja-JP" altLang="en-US" sz="2800" dirty="0"/>
              <a:t>・スタッフの職務に対する満足度</a:t>
            </a:r>
            <a:endParaRPr kumimoji="1" lang="en-US" altLang="ja-JP" sz="2800" dirty="0"/>
          </a:p>
          <a:p>
            <a:pPr>
              <a:lnSpc>
                <a:spcPct val="150000"/>
              </a:lnSpc>
            </a:pPr>
            <a:r>
              <a:rPr kumimoji="1" lang="ja-JP" altLang="en-US" sz="2800" dirty="0"/>
              <a:t>・スタッフの会社に対する満足度</a:t>
            </a:r>
            <a:endParaRPr kumimoji="1" lang="en-US" altLang="ja-JP" sz="2800" dirty="0"/>
          </a:p>
          <a:p>
            <a:pPr>
              <a:lnSpc>
                <a:spcPct val="150000"/>
              </a:lnSpc>
            </a:pPr>
            <a:r>
              <a:rPr kumimoji="1" lang="ja-JP" altLang="en-US" sz="2800" dirty="0"/>
              <a:t>・スタッフの積極的な貢献意欲</a:t>
            </a:r>
            <a:endParaRPr kumimoji="1" lang="en-US" altLang="ja-JP" sz="2800" dirty="0"/>
          </a:p>
          <a:p>
            <a:pPr>
              <a:lnSpc>
                <a:spcPct val="150000"/>
              </a:lnSpc>
            </a:pPr>
            <a:r>
              <a:rPr kumimoji="1" lang="ja-JP" altLang="en-US" sz="2800" dirty="0"/>
              <a:t>・効果的なチームとしての基盤</a:t>
            </a:r>
            <a:endParaRPr kumimoji="1" lang="en-US" altLang="ja-JP" sz="2800" dirty="0"/>
          </a:p>
          <a:p>
            <a:pPr>
              <a:lnSpc>
                <a:spcPct val="150000"/>
              </a:lnSpc>
            </a:pPr>
            <a:r>
              <a:rPr kumimoji="1" lang="ja-JP" altLang="en-US" sz="2800" dirty="0"/>
              <a:t>・チームとしての顧客視点と行動</a:t>
            </a:r>
            <a:endParaRPr kumimoji="1" lang="en-US" altLang="ja-JP" sz="2800" dirty="0"/>
          </a:p>
        </p:txBody>
      </p:sp>
      <p:sp>
        <p:nvSpPr>
          <p:cNvPr id="4" name="フローチャート: 書類 3"/>
          <p:cNvSpPr/>
          <p:nvPr/>
        </p:nvSpPr>
        <p:spPr>
          <a:xfrm>
            <a:off x="7781038" y="1762125"/>
            <a:ext cx="3915662" cy="3228975"/>
          </a:xfrm>
          <a:prstGeom prst="flowChartDocument">
            <a:avLst/>
          </a:prstGeom>
        </p:spPr>
        <p:style>
          <a:lnRef idx="1">
            <a:schemeClr val="accent2"/>
          </a:lnRef>
          <a:fillRef idx="3">
            <a:schemeClr val="accent2"/>
          </a:fillRef>
          <a:effectRef idx="2">
            <a:schemeClr val="accent2"/>
          </a:effectRef>
          <a:fontRef idx="minor">
            <a:schemeClr val="lt1"/>
          </a:fontRef>
        </p:style>
        <p:txBody>
          <a:bodyPr wrap="none" anchor="ctr">
            <a:noAutofit/>
          </a:bodyPr>
          <a:lstStyle/>
          <a:p>
            <a:pPr algn="ctr"/>
            <a:r>
              <a:rPr kumimoji="1" lang="ja-JP" altLang="en-US" sz="2800" dirty="0"/>
              <a:t>それぞれの要因と</a:t>
            </a:r>
            <a:endParaRPr kumimoji="1" lang="en-US" altLang="ja-JP" sz="2800" dirty="0"/>
          </a:p>
          <a:p>
            <a:pPr algn="ctr"/>
            <a:r>
              <a:rPr kumimoji="1" lang="ja-JP" altLang="en-US" sz="2800" dirty="0"/>
              <a:t>改善施策、優先順位</a:t>
            </a:r>
            <a:endParaRPr kumimoji="1" lang="en-US" altLang="ja-JP" sz="2800" dirty="0"/>
          </a:p>
          <a:p>
            <a:pPr algn="ctr"/>
            <a:r>
              <a:rPr kumimoji="1" lang="ja-JP" altLang="en-US" sz="2800" dirty="0"/>
              <a:t>（全体、店舗毎）</a:t>
            </a:r>
          </a:p>
        </p:txBody>
      </p:sp>
      <p:sp>
        <p:nvSpPr>
          <p:cNvPr id="5" name="スライド番号プレースホルダー 4"/>
          <p:cNvSpPr>
            <a:spLocks noGrp="1"/>
          </p:cNvSpPr>
          <p:nvPr>
            <p:ph type="sldNum" sz="quarter" idx="12"/>
          </p:nvPr>
        </p:nvSpPr>
        <p:spPr/>
        <p:txBody>
          <a:bodyPr/>
          <a:lstStyle/>
          <a:p>
            <a:fld id="{D57F1E4F-1CFF-5643-939E-217C01CDF565}" type="slidenum">
              <a:rPr lang="en-US" smtClean="0"/>
              <a:pPr/>
              <a:t>8</a:t>
            </a:fld>
            <a:endParaRPr lang="en-US" dirty="0"/>
          </a:p>
        </p:txBody>
      </p:sp>
      <p:sp>
        <p:nvSpPr>
          <p:cNvPr id="7" name="二等辺三角形 6"/>
          <p:cNvSpPr/>
          <p:nvPr/>
        </p:nvSpPr>
        <p:spPr>
          <a:xfrm rot="5400000">
            <a:off x="4916380" y="3302579"/>
            <a:ext cx="4316730" cy="51766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7781038" y="5263777"/>
            <a:ext cx="4236791" cy="738664"/>
          </a:xfrm>
          <a:prstGeom prst="rect">
            <a:avLst/>
          </a:prstGeom>
        </p:spPr>
        <p:txBody>
          <a:bodyPr wrap="square">
            <a:spAutoFit/>
          </a:bodyPr>
          <a:lstStyle/>
          <a:p>
            <a:r>
              <a:rPr kumimoji="1" lang="en-US" altLang="ja-JP" sz="1400" dirty="0"/>
              <a:t>※</a:t>
            </a:r>
            <a:r>
              <a:rPr kumimoji="1" lang="ja-JP" altLang="en-US" sz="1400" dirty="0"/>
              <a:t>個人へのフィードバックはありません。</a:t>
            </a:r>
            <a:endParaRPr kumimoji="1" lang="en-US" altLang="ja-JP" sz="1400" dirty="0"/>
          </a:p>
          <a:p>
            <a:r>
              <a:rPr kumimoji="1" lang="ja-JP" altLang="en-US" sz="1400" dirty="0"/>
              <a:t>店舗別、地域別、全社といった組織単位でのレポートとなります</a:t>
            </a:r>
          </a:p>
        </p:txBody>
      </p:sp>
      <p:sp>
        <p:nvSpPr>
          <p:cNvPr id="8" name="左中かっこ 7">
            <a:extLst>
              <a:ext uri="{FF2B5EF4-FFF2-40B4-BE49-F238E27FC236}">
                <a16:creationId xmlns:a16="http://schemas.microsoft.com/office/drawing/2014/main" id="{3CEC960F-60BB-488D-87C3-C6D306CD8EF8}"/>
              </a:ext>
            </a:extLst>
          </p:cNvPr>
          <p:cNvSpPr/>
          <p:nvPr/>
        </p:nvSpPr>
        <p:spPr>
          <a:xfrm>
            <a:off x="995679" y="2143760"/>
            <a:ext cx="254001" cy="176784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左中かっこ 8">
            <a:extLst>
              <a:ext uri="{FF2B5EF4-FFF2-40B4-BE49-F238E27FC236}">
                <a16:creationId xmlns:a16="http://schemas.microsoft.com/office/drawing/2014/main" id="{F1775721-4178-4623-8CBD-4A6570856682}"/>
              </a:ext>
            </a:extLst>
          </p:cNvPr>
          <p:cNvSpPr/>
          <p:nvPr/>
        </p:nvSpPr>
        <p:spPr>
          <a:xfrm>
            <a:off x="1014735" y="3951938"/>
            <a:ext cx="254001" cy="1311839"/>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F56A2D6-EF4D-48BE-A4E0-818A00EEEA31}"/>
              </a:ext>
            </a:extLst>
          </p:cNvPr>
          <p:cNvSpPr/>
          <p:nvPr/>
        </p:nvSpPr>
        <p:spPr>
          <a:xfrm>
            <a:off x="464173" y="2622441"/>
            <a:ext cx="615553" cy="810478"/>
          </a:xfrm>
          <a:prstGeom prst="rect">
            <a:avLst/>
          </a:prstGeom>
        </p:spPr>
        <p:txBody>
          <a:bodyPr vert="eaVert" wrap="none">
            <a:spAutoFit/>
          </a:bodyPr>
          <a:lstStyle/>
          <a:p>
            <a:r>
              <a:rPr kumimoji="1" lang="ja-JP" altLang="en-US" sz="2800" dirty="0"/>
              <a:t>個人</a:t>
            </a:r>
          </a:p>
        </p:txBody>
      </p:sp>
      <p:sp>
        <p:nvSpPr>
          <p:cNvPr id="11" name="正方形/長方形 10">
            <a:extLst>
              <a:ext uri="{FF2B5EF4-FFF2-40B4-BE49-F238E27FC236}">
                <a16:creationId xmlns:a16="http://schemas.microsoft.com/office/drawing/2014/main" id="{03726339-091B-44FF-AC40-AEDB18A7FCC4}"/>
              </a:ext>
            </a:extLst>
          </p:cNvPr>
          <p:cNvSpPr/>
          <p:nvPr/>
        </p:nvSpPr>
        <p:spPr>
          <a:xfrm>
            <a:off x="464173" y="4165715"/>
            <a:ext cx="615553" cy="1086195"/>
          </a:xfrm>
          <a:prstGeom prst="rect">
            <a:avLst/>
          </a:prstGeom>
        </p:spPr>
        <p:txBody>
          <a:bodyPr vert="eaVert" wrap="none">
            <a:spAutoFit/>
          </a:bodyPr>
          <a:lstStyle/>
          <a:p>
            <a:r>
              <a:rPr kumimoji="1" lang="ja-JP" altLang="en-US" sz="2800" dirty="0"/>
              <a:t>チーム</a:t>
            </a:r>
          </a:p>
        </p:txBody>
      </p:sp>
    </p:spTree>
    <p:extLst>
      <p:ext uri="{BB962C8B-B14F-4D97-AF65-F5344CB8AC3E}">
        <p14:creationId xmlns:p14="http://schemas.microsoft.com/office/powerpoint/2010/main" val="341800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レポートサンプル</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5" name="図 4">
            <a:extLst>
              <a:ext uri="{FF2B5EF4-FFF2-40B4-BE49-F238E27FC236}">
                <a16:creationId xmlns:a16="http://schemas.microsoft.com/office/drawing/2014/main" id="{CBDC5174-C49E-4FC7-8BA6-2FC1474BCF3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0553" y="1690321"/>
            <a:ext cx="5663996" cy="3924000"/>
          </a:xfrm>
          <a:prstGeom prst="rect">
            <a:avLst/>
          </a:prstGeom>
          <a:ln>
            <a:solidFill>
              <a:schemeClr val="tx1"/>
            </a:solidFill>
          </a:ln>
        </p:spPr>
      </p:pic>
      <p:pic>
        <p:nvPicPr>
          <p:cNvPr id="7" name="図 6">
            <a:extLst>
              <a:ext uri="{FF2B5EF4-FFF2-40B4-BE49-F238E27FC236}">
                <a16:creationId xmlns:a16="http://schemas.microsoft.com/office/drawing/2014/main" id="{593C8533-B772-4B3B-B0AB-9D01C758CA4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126480" y="1683497"/>
            <a:ext cx="5617736" cy="3930824"/>
          </a:xfrm>
          <a:prstGeom prst="rect">
            <a:avLst/>
          </a:prstGeom>
          <a:ln>
            <a:solidFill>
              <a:schemeClr val="tx1"/>
            </a:solidFill>
          </a:ln>
        </p:spPr>
      </p:pic>
      <p:sp>
        <p:nvSpPr>
          <p:cNvPr id="10" name="正方形/長方形 9">
            <a:extLst>
              <a:ext uri="{FF2B5EF4-FFF2-40B4-BE49-F238E27FC236}">
                <a16:creationId xmlns:a16="http://schemas.microsoft.com/office/drawing/2014/main" id="{76B697DA-943E-4D80-BA37-DD5EB1C5E5D7}"/>
              </a:ext>
            </a:extLst>
          </p:cNvPr>
          <p:cNvSpPr/>
          <p:nvPr/>
        </p:nvSpPr>
        <p:spPr>
          <a:xfrm>
            <a:off x="231170" y="1157108"/>
            <a:ext cx="1800493" cy="369332"/>
          </a:xfrm>
          <a:prstGeom prst="rect">
            <a:avLst/>
          </a:prstGeom>
        </p:spPr>
        <p:txBody>
          <a:bodyPr wrap="none">
            <a:spAutoFit/>
          </a:bodyPr>
          <a:lstStyle/>
          <a:p>
            <a:r>
              <a:rPr kumimoji="1" lang="ja-JP" altLang="en-US" dirty="0"/>
              <a:t>＜組織全体①＞</a:t>
            </a:r>
          </a:p>
        </p:txBody>
      </p:sp>
    </p:spTree>
    <p:extLst>
      <p:ext uri="{BB962C8B-B14F-4D97-AF65-F5344CB8AC3E}">
        <p14:creationId xmlns:p14="http://schemas.microsoft.com/office/powerpoint/2010/main" val="869698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レポートサンプル</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8" name="図 7">
            <a:extLst>
              <a:ext uri="{FF2B5EF4-FFF2-40B4-BE49-F238E27FC236}">
                <a16:creationId xmlns:a16="http://schemas.microsoft.com/office/drawing/2014/main" id="{E7D6A8C9-2514-4FCA-85F2-CD2A126CD11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4962" y="1664494"/>
            <a:ext cx="5521518" cy="3924000"/>
          </a:xfrm>
          <a:prstGeom prst="rect">
            <a:avLst/>
          </a:prstGeom>
          <a:ln>
            <a:solidFill>
              <a:schemeClr val="tx1"/>
            </a:solidFill>
          </a:ln>
        </p:spPr>
      </p:pic>
      <p:pic>
        <p:nvPicPr>
          <p:cNvPr id="9" name="図 8">
            <a:extLst>
              <a:ext uri="{FF2B5EF4-FFF2-40B4-BE49-F238E27FC236}">
                <a16:creationId xmlns:a16="http://schemas.microsoft.com/office/drawing/2014/main" id="{7B8FA456-F163-4032-B6E0-EBBBF74150E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339841" y="1664494"/>
            <a:ext cx="5492859" cy="3924000"/>
          </a:xfrm>
          <a:prstGeom prst="rect">
            <a:avLst/>
          </a:prstGeom>
          <a:ln>
            <a:solidFill>
              <a:schemeClr val="tx1"/>
            </a:solidFill>
          </a:ln>
        </p:spPr>
      </p:pic>
      <p:sp>
        <p:nvSpPr>
          <p:cNvPr id="10" name="正方形/長方形 9">
            <a:extLst>
              <a:ext uri="{FF2B5EF4-FFF2-40B4-BE49-F238E27FC236}">
                <a16:creationId xmlns:a16="http://schemas.microsoft.com/office/drawing/2014/main" id="{76B697DA-943E-4D80-BA37-DD5EB1C5E5D7}"/>
              </a:ext>
            </a:extLst>
          </p:cNvPr>
          <p:cNvSpPr/>
          <p:nvPr/>
        </p:nvSpPr>
        <p:spPr>
          <a:xfrm>
            <a:off x="231170" y="1157108"/>
            <a:ext cx="1800493" cy="369332"/>
          </a:xfrm>
          <a:prstGeom prst="rect">
            <a:avLst/>
          </a:prstGeom>
        </p:spPr>
        <p:txBody>
          <a:bodyPr wrap="none">
            <a:spAutoFit/>
          </a:bodyPr>
          <a:lstStyle/>
          <a:p>
            <a:r>
              <a:rPr kumimoji="1" lang="ja-JP" altLang="en-US" dirty="0"/>
              <a:t>＜組織全体②＞</a:t>
            </a:r>
          </a:p>
        </p:txBody>
      </p:sp>
    </p:spTree>
    <p:extLst>
      <p:ext uri="{BB962C8B-B14F-4D97-AF65-F5344CB8AC3E}">
        <p14:creationId xmlns:p14="http://schemas.microsoft.com/office/powerpoint/2010/main" val="2799252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レポートサンプル</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11</a:t>
            </a:fld>
            <a:endParaRPr lang="en-US" dirty="0"/>
          </a:p>
        </p:txBody>
      </p:sp>
      <p:sp>
        <p:nvSpPr>
          <p:cNvPr id="10" name="正方形/長方形 9">
            <a:extLst>
              <a:ext uri="{FF2B5EF4-FFF2-40B4-BE49-F238E27FC236}">
                <a16:creationId xmlns:a16="http://schemas.microsoft.com/office/drawing/2014/main" id="{76B697DA-943E-4D80-BA37-DD5EB1C5E5D7}"/>
              </a:ext>
            </a:extLst>
          </p:cNvPr>
          <p:cNvSpPr/>
          <p:nvPr/>
        </p:nvSpPr>
        <p:spPr>
          <a:xfrm>
            <a:off x="231170" y="1157108"/>
            <a:ext cx="1107996" cy="369332"/>
          </a:xfrm>
          <a:prstGeom prst="rect">
            <a:avLst/>
          </a:prstGeom>
        </p:spPr>
        <p:txBody>
          <a:bodyPr wrap="none">
            <a:spAutoFit/>
          </a:bodyPr>
          <a:lstStyle/>
          <a:p>
            <a:r>
              <a:rPr kumimoji="1" lang="ja-JP" altLang="en-US" dirty="0"/>
              <a:t>＜店別＞</a:t>
            </a:r>
          </a:p>
        </p:txBody>
      </p:sp>
      <p:pic>
        <p:nvPicPr>
          <p:cNvPr id="4" name="図 3">
            <a:extLst>
              <a:ext uri="{FF2B5EF4-FFF2-40B4-BE49-F238E27FC236}">
                <a16:creationId xmlns:a16="http://schemas.microsoft.com/office/drawing/2014/main" id="{74D6D204-B855-41B2-8183-8B485A7CC29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7160" y="1526440"/>
            <a:ext cx="5461716" cy="3780000"/>
          </a:xfrm>
          <a:prstGeom prst="rect">
            <a:avLst/>
          </a:prstGeom>
          <a:ln>
            <a:solidFill>
              <a:schemeClr val="tx1"/>
            </a:solidFill>
          </a:ln>
        </p:spPr>
      </p:pic>
      <p:pic>
        <p:nvPicPr>
          <p:cNvPr id="5" name="図 4">
            <a:extLst>
              <a:ext uri="{FF2B5EF4-FFF2-40B4-BE49-F238E27FC236}">
                <a16:creationId xmlns:a16="http://schemas.microsoft.com/office/drawing/2014/main" id="{2CFA473A-4A5E-4156-AD59-D0B997967E5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924056" y="1913080"/>
            <a:ext cx="5367690" cy="3780000"/>
          </a:xfrm>
          <a:prstGeom prst="rect">
            <a:avLst/>
          </a:prstGeom>
          <a:ln>
            <a:solidFill>
              <a:schemeClr val="tx1"/>
            </a:solidFill>
          </a:ln>
        </p:spPr>
      </p:pic>
      <p:pic>
        <p:nvPicPr>
          <p:cNvPr id="11" name="図 10">
            <a:extLst>
              <a:ext uri="{FF2B5EF4-FFF2-40B4-BE49-F238E27FC236}">
                <a16:creationId xmlns:a16="http://schemas.microsoft.com/office/drawing/2014/main" id="{C9FD6F06-12BD-4A8D-99E3-1CCD342933E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669694" y="2417674"/>
            <a:ext cx="5432156" cy="3780000"/>
          </a:xfrm>
          <a:prstGeom prst="rect">
            <a:avLst/>
          </a:prstGeom>
          <a:ln>
            <a:solidFill>
              <a:schemeClr val="tx1"/>
            </a:solidFill>
          </a:ln>
        </p:spPr>
      </p:pic>
    </p:spTree>
    <p:extLst>
      <p:ext uri="{BB962C8B-B14F-4D97-AF65-F5344CB8AC3E}">
        <p14:creationId xmlns:p14="http://schemas.microsoft.com/office/powerpoint/2010/main" val="16841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レポートサンプル</a:t>
            </a:r>
          </a:p>
        </p:txBody>
      </p:sp>
      <p:sp>
        <p:nvSpPr>
          <p:cNvPr id="3" name="スライド番号プレースホルダー 2"/>
          <p:cNvSpPr>
            <a:spLocks noGrp="1"/>
          </p:cNvSpPr>
          <p:nvPr>
            <p:ph type="sldNum" sz="quarter" idx="12"/>
          </p:nvPr>
        </p:nvSpPr>
        <p:spPr/>
        <p:txBody>
          <a:bodyPr/>
          <a:lstStyle/>
          <a:p>
            <a:fld id="{D57F1E4F-1CFF-5643-939E-217C01CDF565}" type="slidenum">
              <a:rPr lang="en-US" smtClean="0"/>
              <a:pPr/>
              <a:t>12</a:t>
            </a:fld>
            <a:endParaRPr lang="en-US" dirty="0"/>
          </a:p>
        </p:txBody>
      </p:sp>
      <p:sp>
        <p:nvSpPr>
          <p:cNvPr id="10" name="正方形/長方形 9">
            <a:extLst>
              <a:ext uri="{FF2B5EF4-FFF2-40B4-BE49-F238E27FC236}">
                <a16:creationId xmlns:a16="http://schemas.microsoft.com/office/drawing/2014/main" id="{76B697DA-943E-4D80-BA37-DD5EB1C5E5D7}"/>
              </a:ext>
            </a:extLst>
          </p:cNvPr>
          <p:cNvSpPr/>
          <p:nvPr/>
        </p:nvSpPr>
        <p:spPr>
          <a:xfrm>
            <a:off x="901730" y="1157108"/>
            <a:ext cx="4148893" cy="369332"/>
          </a:xfrm>
          <a:prstGeom prst="rect">
            <a:avLst/>
          </a:prstGeom>
        </p:spPr>
        <p:txBody>
          <a:bodyPr wrap="none">
            <a:spAutoFit/>
          </a:bodyPr>
          <a:lstStyle/>
          <a:p>
            <a:r>
              <a:rPr kumimoji="1" lang="ja-JP" altLang="en-US" dirty="0"/>
              <a:t>＜帳票の見方について＞　判定信号とは</a:t>
            </a:r>
          </a:p>
        </p:txBody>
      </p:sp>
      <p:pic>
        <p:nvPicPr>
          <p:cNvPr id="8" name="図 7">
            <a:extLst>
              <a:ext uri="{FF2B5EF4-FFF2-40B4-BE49-F238E27FC236}">
                <a16:creationId xmlns:a16="http://schemas.microsoft.com/office/drawing/2014/main" id="{C7AD41AD-22EE-488C-9701-17C8F535E00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8000" y="1747114"/>
            <a:ext cx="5303858" cy="4504244"/>
          </a:xfrm>
          <a:prstGeom prst="rect">
            <a:avLst/>
          </a:prstGeom>
          <a:ln>
            <a:solidFill>
              <a:schemeClr val="tx1"/>
            </a:solidFill>
          </a:ln>
        </p:spPr>
      </p:pic>
      <p:pic>
        <p:nvPicPr>
          <p:cNvPr id="9" name="図 8">
            <a:extLst>
              <a:ext uri="{FF2B5EF4-FFF2-40B4-BE49-F238E27FC236}">
                <a16:creationId xmlns:a16="http://schemas.microsoft.com/office/drawing/2014/main" id="{E1CDD481-802A-45A5-AD1C-4D29241C1AB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043814" y="1747114"/>
            <a:ext cx="4705465" cy="2784870"/>
          </a:xfrm>
          <a:prstGeom prst="rect">
            <a:avLst/>
          </a:prstGeom>
          <a:ln>
            <a:solidFill>
              <a:schemeClr val="tx1"/>
            </a:solidFill>
          </a:ln>
        </p:spPr>
      </p:pic>
      <p:sp>
        <p:nvSpPr>
          <p:cNvPr id="6" name="吹き出し: 折線 5">
            <a:extLst>
              <a:ext uri="{FF2B5EF4-FFF2-40B4-BE49-F238E27FC236}">
                <a16:creationId xmlns:a16="http://schemas.microsoft.com/office/drawing/2014/main" id="{C875DBAA-0BC7-433B-AB9E-D2181BA53898}"/>
              </a:ext>
            </a:extLst>
          </p:cNvPr>
          <p:cNvSpPr/>
          <p:nvPr/>
        </p:nvSpPr>
        <p:spPr>
          <a:xfrm>
            <a:off x="6043814" y="4820084"/>
            <a:ext cx="5513186" cy="1384995"/>
          </a:xfrm>
          <a:prstGeom prst="borderCallout2">
            <a:avLst>
              <a:gd name="adj1" fmla="val -4104"/>
              <a:gd name="adj2" fmla="val 18903"/>
              <a:gd name="adj3" fmla="val -108214"/>
              <a:gd name="adj4" fmla="val 31097"/>
              <a:gd name="adj5" fmla="val -143969"/>
              <a:gd name="adj6" fmla="val 47032"/>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職場・仕事について、店長は</a:t>
            </a:r>
            <a:r>
              <a:rPr kumimoji="1" lang="ja-JP" altLang="en-US" sz="1400" b="1" u="sng" dirty="0">
                <a:latin typeface="Meiryo UI" panose="020B0604030504040204" pitchFamily="50" charset="-128"/>
                <a:ea typeface="Meiryo UI" panose="020B0604030504040204" pitchFamily="50" charset="-128"/>
                <a:cs typeface="Meiryo UI" panose="020B0604030504040204" pitchFamily="50" charset="-128"/>
              </a:rPr>
              <a:t>青信号で問題ない</a:t>
            </a:r>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が、社員とパートアルバイトが</a:t>
            </a:r>
            <a:r>
              <a:rPr kumimoji="1" lang="ja-JP" altLang="en-US" sz="1400" b="1" u="sng" dirty="0">
                <a:latin typeface="Meiryo UI" panose="020B0604030504040204" pitchFamily="50" charset="-128"/>
                <a:ea typeface="Meiryo UI" panose="020B0604030504040204" pitchFamily="50" charset="-128"/>
                <a:cs typeface="Meiryo UI" panose="020B0604030504040204" pitchFamily="50" charset="-128"/>
              </a:rPr>
              <a:t>赤信号で問題あり</a:t>
            </a:r>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b="1"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　⇒　どの店舗で問題が発生しているか（本レポートで確認）</a:t>
            </a:r>
            <a:endParaRPr kumimoji="1" lang="en-US" altLang="ja-JP" sz="1400" b="1"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　　　⇒どの項目、行動が問題となっているか　（本レポートで確認）</a:t>
            </a:r>
            <a:endParaRPr kumimoji="1" lang="en-US" altLang="ja-JP" sz="1400" b="1"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　　　　　　⇒実態はどうなっているか　（振返り、ミーティング等で確認）</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　　　　　　　　　⇒何をすれば改善するか　（ミーティングで検討）</a:t>
            </a:r>
          </a:p>
        </p:txBody>
      </p:sp>
      <p:sp>
        <p:nvSpPr>
          <p:cNvPr id="7" name="正方形/長方形 6">
            <a:extLst>
              <a:ext uri="{FF2B5EF4-FFF2-40B4-BE49-F238E27FC236}">
                <a16:creationId xmlns:a16="http://schemas.microsoft.com/office/drawing/2014/main" id="{F6CE1A9A-0343-4D9D-B2F8-32C01B8FAE08}"/>
              </a:ext>
            </a:extLst>
          </p:cNvPr>
          <p:cNvSpPr/>
          <p:nvPr/>
        </p:nvSpPr>
        <p:spPr>
          <a:xfrm>
            <a:off x="8737600" y="2367280"/>
            <a:ext cx="640080" cy="94488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85890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グループ化 9"/>
          <p:cNvGrpSpPr/>
          <p:nvPr/>
        </p:nvGrpSpPr>
        <p:grpSpPr>
          <a:xfrm>
            <a:off x="813716" y="1128005"/>
            <a:ext cx="5208207" cy="5139445"/>
            <a:chOff x="2220919" y="1169405"/>
            <a:chExt cx="5208207" cy="5139445"/>
          </a:xfrm>
        </p:grpSpPr>
        <p:sp>
          <p:nvSpPr>
            <p:cNvPr id="4" name="正方形/長方形 3"/>
            <p:cNvSpPr/>
            <p:nvPr/>
          </p:nvSpPr>
          <p:spPr>
            <a:xfrm>
              <a:off x="2220919" y="1534821"/>
              <a:ext cx="5208207" cy="4774029"/>
            </a:xfrm>
            <a:prstGeom prst="rect">
              <a:avLst/>
            </a:prstGeom>
            <a:ln>
              <a:noFill/>
            </a:ln>
          </p:spPr>
          <p:style>
            <a:lnRef idx="2">
              <a:schemeClr val="accent2"/>
            </a:lnRef>
            <a:fillRef idx="1">
              <a:schemeClr val="lt1"/>
            </a:fillRef>
            <a:effectRef idx="0">
              <a:schemeClr val="accent2"/>
            </a:effectRef>
            <a:fontRef idx="minor">
              <a:schemeClr val="dk1"/>
            </a:fontRef>
          </p:style>
          <p:txBody>
            <a:bodyPr tIns="144000" rtlCol="0" anchor="t"/>
            <a:lstStyle/>
            <a:p>
              <a:pPr>
                <a:spcBef>
                  <a:spcPts val="1200"/>
                </a:spcBef>
              </a:pPr>
              <a:r>
                <a:rPr kumimoji="1" lang="ja-JP" altLang="en-US" sz="1200" b="1" dirty="0">
                  <a:latin typeface="游ゴシック" panose="020B0400000000000000" pitchFamily="50" charset="-128"/>
                  <a:ea typeface="游ゴシック" panose="020B0400000000000000" pitchFamily="50" charset="-128"/>
                </a:rPr>
                <a:t>＜目的＞</a:t>
              </a:r>
              <a:endParaRPr kumimoji="1" lang="en-US" altLang="ja-JP" sz="1200" b="1" dirty="0">
                <a:latin typeface="游ゴシック" panose="020B0400000000000000" pitchFamily="50" charset="-128"/>
                <a:ea typeface="游ゴシック" panose="020B0400000000000000" pitchFamily="50" charset="-128"/>
              </a:endParaRPr>
            </a:p>
            <a:p>
              <a:pPr marL="85725" indent="-85725"/>
              <a:r>
                <a:rPr kumimoji="1" lang="ja-JP" altLang="en-US" sz="1200" dirty="0">
                  <a:latin typeface="游ゴシック" panose="020B0400000000000000" pitchFamily="50" charset="-128"/>
                  <a:ea typeface="游ゴシック" panose="020B0400000000000000" pitchFamily="50" charset="-128"/>
                </a:rPr>
                <a:t>　人間の行動（特に組織において）について説明し、予測し、統制するのを助けること</a:t>
              </a:r>
              <a:endParaRPr kumimoji="1" lang="en-US" altLang="ja-JP" sz="1200" dirty="0">
                <a:latin typeface="游ゴシック" panose="020B0400000000000000" pitchFamily="50" charset="-128"/>
                <a:ea typeface="游ゴシック" panose="020B0400000000000000" pitchFamily="50" charset="-128"/>
              </a:endParaRPr>
            </a:p>
            <a:p>
              <a:pPr>
                <a:spcBef>
                  <a:spcPts val="600"/>
                </a:spcBef>
              </a:pPr>
              <a:r>
                <a:rPr kumimoji="1" lang="ja-JP" altLang="en-US" sz="1200" b="1" dirty="0">
                  <a:latin typeface="游ゴシック" panose="020B0400000000000000" pitchFamily="50" charset="-128"/>
                  <a:ea typeface="游ゴシック" panose="020B0400000000000000" pitchFamily="50" charset="-128"/>
                </a:rPr>
                <a:t>＜組織文化づくりへの効果＞</a:t>
              </a:r>
              <a:endParaRPr kumimoji="1" lang="en-US" altLang="ja-JP" sz="1200" b="1" dirty="0">
                <a:latin typeface="游ゴシック" panose="020B0400000000000000" pitchFamily="50" charset="-128"/>
                <a:ea typeface="游ゴシック" panose="020B0400000000000000" pitchFamily="50" charset="-128"/>
              </a:endParaRPr>
            </a:p>
            <a:p>
              <a:pPr marL="92075" indent="-92075"/>
              <a:r>
                <a:rPr kumimoji="1" lang="ja-JP" altLang="en-US" sz="1200" dirty="0">
                  <a:latin typeface="游ゴシック" panose="020B0400000000000000" pitchFamily="50" charset="-128"/>
                  <a:ea typeface="游ゴシック" panose="020B0400000000000000" pitchFamily="50" charset="-128"/>
                </a:rPr>
                <a:t>　マネジャーが顧客対応型文化を構築していく上で必要なことを考えることが出来る（顧客対応型文化とは、従業員が親しみやすく丁寧で、いつでも連絡が取れて知識もあり、さらに顧客ニーズに迅速に対応し、顧客を喜ばせるために必要なことを進んで行うような文化である）。</a:t>
              </a:r>
              <a:endParaRPr kumimoji="1" lang="en-US" altLang="ja-JP" sz="1200" dirty="0">
                <a:latin typeface="游ゴシック" panose="020B0400000000000000" pitchFamily="50" charset="-128"/>
                <a:ea typeface="游ゴシック" panose="020B0400000000000000" pitchFamily="50" charset="-128"/>
              </a:endParaRPr>
            </a:p>
            <a:p>
              <a:pPr marL="92075" indent="-92075">
                <a:spcBef>
                  <a:spcPts val="600"/>
                </a:spcBef>
              </a:pPr>
              <a:r>
                <a:rPr kumimoji="1" lang="ja-JP" altLang="en-US" sz="1200" b="1" dirty="0">
                  <a:latin typeface="游ゴシック" panose="020B0400000000000000" pitchFamily="50" charset="-128"/>
                  <a:ea typeface="游ゴシック" panose="020B0400000000000000" pitchFamily="50" charset="-128"/>
                </a:rPr>
                <a:t>＜行動と態度の関係性＞</a:t>
              </a:r>
              <a:endParaRPr kumimoji="1" lang="en-US" altLang="ja-JP" sz="1200" b="1" dirty="0">
                <a:latin typeface="游ゴシック" panose="020B0400000000000000" pitchFamily="50" charset="-128"/>
                <a:ea typeface="游ゴシック" panose="020B0400000000000000" pitchFamily="50" charset="-128"/>
              </a:endParaRPr>
            </a:p>
            <a:p>
              <a:pPr marL="92075" indent="-92075"/>
              <a:endParaRPr kumimoji="1" lang="ja-JP" altLang="en-US" sz="1200" dirty="0">
                <a:latin typeface="游ゴシック" panose="020B0400000000000000" pitchFamily="50" charset="-128"/>
                <a:ea typeface="游ゴシック" panose="020B0400000000000000" pitchFamily="50" charset="-128"/>
              </a:endParaRPr>
            </a:p>
          </p:txBody>
        </p:sp>
        <p:sp>
          <p:nvSpPr>
            <p:cNvPr id="3" name="正方形/長方形 2"/>
            <p:cNvSpPr/>
            <p:nvPr/>
          </p:nvSpPr>
          <p:spPr>
            <a:xfrm>
              <a:off x="2220919" y="1169405"/>
              <a:ext cx="1346844"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kumimoji="1" lang="ja-JP" altLang="en-US" b="1" dirty="0"/>
                <a:t>組織行動学</a:t>
              </a:r>
            </a:p>
          </p:txBody>
        </p:sp>
      </p:grpSp>
      <p:sp>
        <p:nvSpPr>
          <p:cNvPr id="9" name="正方形/長方形 8"/>
          <p:cNvSpPr/>
          <p:nvPr/>
        </p:nvSpPr>
        <p:spPr>
          <a:xfrm>
            <a:off x="1038273" y="3890806"/>
            <a:ext cx="2223721" cy="1092766"/>
          </a:xfrm>
          <a:prstGeom prst="rect">
            <a:avLst/>
          </a:prstGeom>
        </p:spPr>
        <p:style>
          <a:lnRef idx="2">
            <a:schemeClr val="accent5"/>
          </a:lnRef>
          <a:fillRef idx="1">
            <a:schemeClr val="lt1"/>
          </a:fillRef>
          <a:effectRef idx="0">
            <a:schemeClr val="accent5"/>
          </a:effectRef>
          <a:fontRef idx="minor">
            <a:schemeClr val="dk1"/>
          </a:fontRef>
        </p:style>
        <p:txBody>
          <a:bodyPr tIns="144000" rtlCol="0" anchor="t"/>
          <a:lstStyle/>
          <a:p>
            <a:r>
              <a:rPr kumimoji="1" lang="ja-JP" altLang="en-US" sz="1100" dirty="0">
                <a:latin typeface="游ゴシック" panose="020B0400000000000000" pitchFamily="50" charset="-128"/>
                <a:ea typeface="游ゴシック" panose="020B0400000000000000" pitchFamily="50" charset="-128"/>
              </a:rPr>
              <a:t>従業員の</a:t>
            </a:r>
            <a:r>
              <a:rPr kumimoji="1" lang="ja-JP" altLang="en-US" sz="1100" b="1" u="sng" dirty="0">
                <a:latin typeface="游ゴシック" panose="020B0400000000000000" pitchFamily="50" charset="-128"/>
                <a:ea typeface="游ゴシック" panose="020B0400000000000000" pitchFamily="50" charset="-128"/>
              </a:rPr>
              <a:t>職務満足感</a:t>
            </a:r>
            <a:endParaRPr kumimoji="1" lang="en-US" altLang="ja-JP" sz="1100" b="1" u="sng" dirty="0">
              <a:latin typeface="游ゴシック" panose="020B0400000000000000" pitchFamily="50" charset="-128"/>
              <a:ea typeface="游ゴシック" panose="020B0400000000000000" pitchFamily="50" charset="-128"/>
            </a:endParaRPr>
          </a:p>
          <a:p>
            <a:pPr marL="180975" indent="-180975"/>
            <a:r>
              <a:rPr kumimoji="1" lang="ja-JP" altLang="en-US" sz="1100" dirty="0">
                <a:latin typeface="游ゴシック" panose="020B0400000000000000" pitchFamily="50" charset="-128"/>
                <a:ea typeface="游ゴシック" panose="020B0400000000000000" pitchFamily="50" charset="-128"/>
              </a:rPr>
              <a:t>・精神的にやりがいのある仕事</a:t>
            </a:r>
            <a:endParaRPr kumimoji="1" lang="en-US" altLang="ja-JP" sz="1100" dirty="0">
              <a:latin typeface="游ゴシック" panose="020B0400000000000000" pitchFamily="50" charset="-128"/>
              <a:ea typeface="游ゴシック" panose="020B0400000000000000" pitchFamily="50" charset="-128"/>
            </a:endParaRPr>
          </a:p>
          <a:p>
            <a:pPr marL="180975" indent="-180975"/>
            <a:r>
              <a:rPr kumimoji="1" lang="ja-JP" altLang="en-US" sz="1100" dirty="0">
                <a:latin typeface="游ゴシック" panose="020B0400000000000000" pitchFamily="50" charset="-128"/>
                <a:ea typeface="游ゴシック" panose="020B0400000000000000" pitchFamily="50" charset="-128"/>
              </a:rPr>
              <a:t>・公平な報酬</a:t>
            </a:r>
            <a:endParaRPr kumimoji="1" lang="en-US" altLang="ja-JP" sz="1100" dirty="0">
              <a:latin typeface="游ゴシック" panose="020B0400000000000000" pitchFamily="50" charset="-128"/>
              <a:ea typeface="游ゴシック" panose="020B0400000000000000" pitchFamily="50" charset="-128"/>
            </a:endParaRPr>
          </a:p>
          <a:p>
            <a:pPr marL="180975" indent="-180975"/>
            <a:r>
              <a:rPr kumimoji="1" lang="ja-JP" altLang="en-US" sz="1100" dirty="0">
                <a:latin typeface="游ゴシック" panose="020B0400000000000000" pitchFamily="50" charset="-128"/>
                <a:ea typeface="游ゴシック" panose="020B0400000000000000" pitchFamily="50" charset="-128"/>
              </a:rPr>
              <a:t>・支援的な作業条件</a:t>
            </a:r>
            <a:endParaRPr kumimoji="1" lang="en-US" altLang="ja-JP" sz="1100" dirty="0">
              <a:latin typeface="游ゴシック" panose="020B0400000000000000" pitchFamily="50" charset="-128"/>
              <a:ea typeface="游ゴシック" panose="020B0400000000000000" pitchFamily="50" charset="-128"/>
            </a:endParaRPr>
          </a:p>
          <a:p>
            <a:pPr marL="180975" indent="-180975"/>
            <a:r>
              <a:rPr kumimoji="1" lang="ja-JP" altLang="en-US" sz="1100" dirty="0">
                <a:latin typeface="游ゴシック" panose="020B0400000000000000" pitchFamily="50" charset="-128"/>
                <a:ea typeface="游ゴシック" panose="020B0400000000000000" pitchFamily="50" charset="-128"/>
              </a:rPr>
              <a:t>・同僚の支え</a:t>
            </a:r>
          </a:p>
        </p:txBody>
      </p:sp>
      <p:sp>
        <p:nvSpPr>
          <p:cNvPr id="2" name="タイトル 1"/>
          <p:cNvSpPr>
            <a:spLocks noGrp="1"/>
          </p:cNvSpPr>
          <p:nvPr>
            <p:ph type="title"/>
          </p:nvPr>
        </p:nvSpPr>
        <p:spPr/>
        <p:txBody>
          <a:bodyPr>
            <a:normAutofit fontScale="90000"/>
          </a:bodyPr>
          <a:lstStyle/>
          <a:p>
            <a:r>
              <a:rPr kumimoji="1" lang="ja-JP" altLang="en-US" dirty="0"/>
              <a:t>参考：本診断の理論背景</a:t>
            </a:r>
            <a:r>
              <a:rPr kumimoji="1" lang="en-US" altLang="ja-JP" dirty="0"/>
              <a:t>-1</a:t>
            </a:r>
            <a:endParaRPr kumimoji="1" lang="ja-JP" altLang="en-US" dirty="0"/>
          </a:p>
        </p:txBody>
      </p:sp>
      <p:sp>
        <p:nvSpPr>
          <p:cNvPr id="6" name="正方形/長方形 5"/>
          <p:cNvSpPr/>
          <p:nvPr/>
        </p:nvSpPr>
        <p:spPr>
          <a:xfrm>
            <a:off x="1863353" y="3627839"/>
            <a:ext cx="543739" cy="307777"/>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kumimoji="1" lang="ja-JP" altLang="en-US" sz="1400" b="1" dirty="0"/>
              <a:t>態度</a:t>
            </a:r>
            <a:endParaRPr kumimoji="1" lang="en-US" altLang="ja-JP" sz="1400" b="1" dirty="0"/>
          </a:p>
        </p:txBody>
      </p:sp>
      <p:sp>
        <p:nvSpPr>
          <p:cNvPr id="7" name="正方形/長方形 6"/>
          <p:cNvSpPr/>
          <p:nvPr/>
        </p:nvSpPr>
        <p:spPr>
          <a:xfrm>
            <a:off x="3429098" y="3890806"/>
            <a:ext cx="2235951" cy="1092766"/>
          </a:xfrm>
          <a:prstGeom prst="rect">
            <a:avLst/>
          </a:prstGeom>
        </p:spPr>
        <p:style>
          <a:lnRef idx="2">
            <a:schemeClr val="accent5"/>
          </a:lnRef>
          <a:fillRef idx="1">
            <a:schemeClr val="lt1"/>
          </a:fillRef>
          <a:effectRef idx="0">
            <a:schemeClr val="accent5"/>
          </a:effectRef>
          <a:fontRef idx="minor">
            <a:schemeClr val="dk1"/>
          </a:fontRef>
        </p:style>
        <p:txBody>
          <a:bodyPr tIns="144000" rtlCol="0" anchor="t"/>
          <a:lstStyle/>
          <a:p>
            <a:r>
              <a:rPr kumimoji="1" lang="ja-JP" altLang="en-US" sz="1100" dirty="0">
                <a:latin typeface="游ゴシック" panose="020B0400000000000000" pitchFamily="50" charset="-128"/>
                <a:ea typeface="游ゴシック" panose="020B0400000000000000" pitchFamily="50" charset="-128"/>
              </a:rPr>
              <a:t>従業員の</a:t>
            </a:r>
            <a:r>
              <a:rPr kumimoji="1" lang="ja-JP" altLang="en-US" sz="1100" b="1" u="sng" dirty="0">
                <a:latin typeface="游ゴシック" panose="020B0400000000000000" pitchFamily="50" charset="-128"/>
                <a:ea typeface="游ゴシック" panose="020B0400000000000000" pitchFamily="50" charset="-128"/>
              </a:rPr>
              <a:t>業績を決定付ける要素</a:t>
            </a:r>
            <a:endParaRPr kumimoji="1" lang="en-US" altLang="ja-JP" sz="1100" b="1" u="sng" dirty="0">
              <a:latin typeface="游ゴシック" panose="020B0400000000000000" pitchFamily="50" charset="-128"/>
              <a:ea typeface="游ゴシック" panose="020B0400000000000000" pitchFamily="50" charset="-128"/>
            </a:endParaRPr>
          </a:p>
          <a:p>
            <a:r>
              <a:rPr kumimoji="1" lang="ja-JP" altLang="en-US" sz="1100" dirty="0">
                <a:latin typeface="游ゴシック" panose="020B0400000000000000" pitchFamily="50" charset="-128"/>
                <a:ea typeface="游ゴシック" panose="020B0400000000000000" pitchFamily="50" charset="-128"/>
              </a:rPr>
              <a:t>　①生産性</a:t>
            </a:r>
            <a:endParaRPr kumimoji="1" lang="en-US" altLang="ja-JP" sz="1100" dirty="0">
              <a:latin typeface="游ゴシック" panose="020B0400000000000000" pitchFamily="50" charset="-128"/>
              <a:ea typeface="游ゴシック" panose="020B0400000000000000" pitchFamily="50" charset="-128"/>
            </a:endParaRPr>
          </a:p>
          <a:p>
            <a:r>
              <a:rPr kumimoji="1" lang="ja-JP" altLang="en-US" sz="1100" dirty="0">
                <a:latin typeface="游ゴシック" panose="020B0400000000000000" pitchFamily="50" charset="-128"/>
                <a:ea typeface="游ゴシック" panose="020B0400000000000000" pitchFamily="50" charset="-128"/>
              </a:rPr>
              <a:t>　②常習的欠勤</a:t>
            </a:r>
            <a:endParaRPr kumimoji="1" lang="en-US" altLang="ja-JP" sz="1100" dirty="0">
              <a:latin typeface="游ゴシック" panose="020B0400000000000000" pitchFamily="50" charset="-128"/>
              <a:ea typeface="游ゴシック" panose="020B0400000000000000" pitchFamily="50" charset="-128"/>
            </a:endParaRPr>
          </a:p>
          <a:p>
            <a:r>
              <a:rPr kumimoji="1" lang="ja-JP" altLang="en-US" sz="1100" dirty="0">
                <a:latin typeface="游ゴシック" panose="020B0400000000000000" pitchFamily="50" charset="-128"/>
                <a:ea typeface="游ゴシック" panose="020B0400000000000000" pitchFamily="50" charset="-128"/>
              </a:rPr>
              <a:t>　③転職率</a:t>
            </a:r>
            <a:endParaRPr kumimoji="1" lang="en-US" altLang="ja-JP" sz="1100" dirty="0">
              <a:latin typeface="游ゴシック" panose="020B0400000000000000" pitchFamily="50" charset="-128"/>
              <a:ea typeface="游ゴシック" panose="020B0400000000000000" pitchFamily="50" charset="-128"/>
            </a:endParaRPr>
          </a:p>
          <a:p>
            <a:r>
              <a:rPr kumimoji="1" lang="ja-JP" altLang="en-US" sz="1100" dirty="0">
                <a:latin typeface="游ゴシック" panose="020B0400000000000000" pitchFamily="50" charset="-128"/>
                <a:ea typeface="游ゴシック" panose="020B0400000000000000" pitchFamily="50" charset="-128"/>
              </a:rPr>
              <a:t>　④組織市民行動</a:t>
            </a:r>
            <a:r>
              <a:rPr kumimoji="1" lang="en-US" altLang="ja-JP" sz="900" dirty="0">
                <a:latin typeface="游ゴシック" panose="020B0400000000000000" pitchFamily="50" charset="-128"/>
                <a:ea typeface="游ゴシック" panose="020B0400000000000000" pitchFamily="50" charset="-128"/>
              </a:rPr>
              <a:t>※</a:t>
            </a:r>
            <a:endParaRPr kumimoji="1" lang="ja-JP" altLang="en-US" sz="1100" dirty="0">
              <a:latin typeface="游ゴシック" panose="020B0400000000000000" pitchFamily="50" charset="-128"/>
              <a:ea typeface="游ゴシック" panose="020B0400000000000000" pitchFamily="50" charset="-128"/>
            </a:endParaRPr>
          </a:p>
        </p:txBody>
      </p:sp>
      <p:sp>
        <p:nvSpPr>
          <p:cNvPr id="5" name="正方形/長方形 4"/>
          <p:cNvSpPr/>
          <p:nvPr/>
        </p:nvSpPr>
        <p:spPr>
          <a:xfrm>
            <a:off x="4254693" y="3627788"/>
            <a:ext cx="543739" cy="307777"/>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r>
              <a:rPr kumimoji="1" lang="ja-JP" altLang="en-US" sz="1400" b="1" dirty="0"/>
              <a:t>行動</a:t>
            </a:r>
            <a:endParaRPr kumimoji="1" lang="en-US" altLang="ja-JP" sz="1400" b="1" dirty="0"/>
          </a:p>
        </p:txBody>
      </p:sp>
      <p:sp>
        <p:nvSpPr>
          <p:cNvPr id="8" name="正方形/長方形 7"/>
          <p:cNvSpPr/>
          <p:nvPr/>
        </p:nvSpPr>
        <p:spPr>
          <a:xfrm>
            <a:off x="1271323" y="5382456"/>
            <a:ext cx="4339650" cy="507831"/>
          </a:xfrm>
          <a:prstGeom prst="rect">
            <a:avLst/>
          </a:prstGeom>
        </p:spPr>
        <p:txBody>
          <a:bodyPr wrap="none">
            <a:spAutoFit/>
          </a:bodyPr>
          <a:lstStyle/>
          <a:p>
            <a:r>
              <a:rPr kumimoji="1" lang="en-US" altLang="ja-JP" sz="900" dirty="0">
                <a:latin typeface="游ゴシック" panose="020B0400000000000000" pitchFamily="50" charset="-128"/>
                <a:ea typeface="游ゴシック" panose="020B0400000000000000" pitchFamily="50" charset="-128"/>
              </a:rPr>
              <a:t>※</a:t>
            </a:r>
            <a:r>
              <a:rPr kumimoji="1" lang="ja-JP" altLang="en-US" sz="900" dirty="0">
                <a:latin typeface="游ゴシック" panose="020B0400000000000000" pitchFamily="50" charset="-128"/>
                <a:ea typeface="游ゴシック" panose="020B0400000000000000" pitchFamily="50" charset="-128"/>
              </a:rPr>
              <a:t>④組織市民行動･･･正式に与えられた職務以上の行動。任意の行動。</a:t>
            </a:r>
            <a:endParaRPr kumimoji="1" lang="en-US" altLang="ja-JP" sz="900" dirty="0">
              <a:latin typeface="游ゴシック" panose="020B0400000000000000" pitchFamily="50" charset="-128"/>
              <a:ea typeface="游ゴシック" panose="020B0400000000000000" pitchFamily="50" charset="-128"/>
            </a:endParaRPr>
          </a:p>
          <a:p>
            <a:r>
              <a:rPr kumimoji="1" lang="ja-JP" altLang="en-US" sz="900" dirty="0">
                <a:latin typeface="游ゴシック" panose="020B0400000000000000" pitchFamily="50" charset="-128"/>
                <a:ea typeface="游ゴシック" panose="020B0400000000000000" pitchFamily="50" charset="-128"/>
              </a:rPr>
              <a:t>　　　チームメンバーを支援、既定業務外の活動への自主的参加、</a:t>
            </a:r>
            <a:endParaRPr kumimoji="1" lang="en-US" altLang="ja-JP" sz="900" dirty="0">
              <a:latin typeface="游ゴシック" panose="020B0400000000000000" pitchFamily="50" charset="-128"/>
              <a:ea typeface="游ゴシック" panose="020B0400000000000000" pitchFamily="50" charset="-128"/>
            </a:endParaRPr>
          </a:p>
          <a:p>
            <a:r>
              <a:rPr kumimoji="1" lang="ja-JP" altLang="en-US" sz="900" dirty="0">
                <a:latin typeface="游ゴシック" panose="020B0400000000000000" pitchFamily="50" charset="-128"/>
                <a:ea typeface="游ゴシック" panose="020B0400000000000000" pitchFamily="50" charset="-128"/>
              </a:rPr>
              <a:t>　　　不必要な対立の回避、所属グループや組織全体への建設的な意見具申　等</a:t>
            </a:r>
            <a:endParaRPr lang="ja-JP" altLang="en-US" sz="900" dirty="0">
              <a:latin typeface="游ゴシック" panose="020B0400000000000000" pitchFamily="50" charset="-128"/>
              <a:ea typeface="游ゴシック" panose="020B0400000000000000" pitchFamily="50" charset="-128"/>
            </a:endParaRPr>
          </a:p>
        </p:txBody>
      </p:sp>
      <p:sp>
        <p:nvSpPr>
          <p:cNvPr id="25" name="矢印: 五方向 24"/>
          <p:cNvSpPr/>
          <p:nvPr/>
        </p:nvSpPr>
        <p:spPr>
          <a:xfrm>
            <a:off x="2561039" y="3676158"/>
            <a:ext cx="1607819" cy="153888"/>
          </a:xfrm>
          <a:prstGeom prst="homePlate">
            <a:avLst/>
          </a:prstGeom>
        </p:spPr>
        <p:style>
          <a:lnRef idx="2">
            <a:schemeClr val="accent6"/>
          </a:lnRef>
          <a:fillRef idx="1">
            <a:schemeClr val="lt1"/>
          </a:fillRef>
          <a:effectRef idx="0">
            <a:schemeClr val="accent6"/>
          </a:effectRef>
          <a:fontRef idx="minor">
            <a:schemeClr val="dk1"/>
          </a:fontRef>
        </p:style>
        <p:txBody>
          <a:bodyPr wrap="square" tIns="0" bIns="0">
            <a:spAutoFit/>
          </a:bodyPr>
          <a:lstStyle/>
          <a:p>
            <a:pPr algn="ctr"/>
            <a:r>
              <a:rPr kumimoji="1" lang="ja-JP" altLang="en-US" sz="1000" dirty="0"/>
              <a:t>影響</a:t>
            </a:r>
          </a:p>
        </p:txBody>
      </p:sp>
      <p:sp>
        <p:nvSpPr>
          <p:cNvPr id="27" name="正方形/長方形 26"/>
          <p:cNvSpPr/>
          <p:nvPr/>
        </p:nvSpPr>
        <p:spPr>
          <a:xfrm>
            <a:off x="9321107" y="2540780"/>
            <a:ext cx="1179153" cy="341236"/>
          </a:xfrm>
          <a:prstGeom prst="rect">
            <a:avLst/>
          </a:prstGeom>
        </p:spPr>
        <p:style>
          <a:lnRef idx="0">
            <a:schemeClr val="accent6"/>
          </a:lnRef>
          <a:fillRef idx="3">
            <a:schemeClr val="accent6"/>
          </a:fillRef>
          <a:effectRef idx="3">
            <a:schemeClr val="accent6"/>
          </a:effectRef>
          <a:fontRef idx="minor">
            <a:schemeClr val="lt1"/>
          </a:fontRef>
        </p:style>
        <p:txBody>
          <a:bodyPr wrap="square" anchor="ctr">
            <a:noAutofit/>
          </a:bodyPr>
          <a:lstStyle/>
          <a:p>
            <a:pPr algn="ctr"/>
            <a:r>
              <a:rPr kumimoji="1" lang="ja-JP" altLang="en-US" sz="1200" dirty="0"/>
              <a:t>組織市民行動</a:t>
            </a:r>
          </a:p>
        </p:txBody>
      </p:sp>
      <p:sp>
        <p:nvSpPr>
          <p:cNvPr id="28" name="正方形/長方形 27"/>
          <p:cNvSpPr/>
          <p:nvPr/>
        </p:nvSpPr>
        <p:spPr>
          <a:xfrm>
            <a:off x="7946143" y="2563815"/>
            <a:ext cx="1082348" cy="307777"/>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r>
              <a:rPr kumimoji="1" lang="ja-JP" altLang="en-US" sz="1400" dirty="0"/>
              <a:t>生産性向上</a:t>
            </a:r>
          </a:p>
        </p:txBody>
      </p:sp>
      <p:sp>
        <p:nvSpPr>
          <p:cNvPr id="29" name="正方形/長方形 28"/>
          <p:cNvSpPr/>
          <p:nvPr/>
        </p:nvSpPr>
        <p:spPr>
          <a:xfrm>
            <a:off x="7691782" y="3183707"/>
            <a:ext cx="1673689"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kumimoji="1" lang="ja-JP" altLang="en-US" b="1" dirty="0"/>
              <a:t>職務満足度</a:t>
            </a:r>
          </a:p>
        </p:txBody>
      </p:sp>
      <p:cxnSp>
        <p:nvCxnSpPr>
          <p:cNvPr id="33" name="コネクタ: カギ線 32"/>
          <p:cNvCxnSpPr>
            <a:stCxn id="29" idx="3"/>
            <a:endCxn id="27" idx="2"/>
          </p:cNvCxnSpPr>
          <p:nvPr/>
        </p:nvCxnSpPr>
        <p:spPr>
          <a:xfrm flipV="1">
            <a:off x="9365471" y="2882016"/>
            <a:ext cx="545213" cy="4863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コネクタ: カギ線 36"/>
          <p:cNvCxnSpPr>
            <a:stCxn id="35" idx="1"/>
          </p:cNvCxnSpPr>
          <p:nvPr/>
        </p:nvCxnSpPr>
        <p:spPr>
          <a:xfrm rot="10800000">
            <a:off x="9911061" y="3143000"/>
            <a:ext cx="178916" cy="2833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p:cNvCxnSpPr>
            <a:stCxn id="27" idx="1"/>
            <a:endCxn id="28" idx="3"/>
          </p:cNvCxnSpPr>
          <p:nvPr/>
        </p:nvCxnSpPr>
        <p:spPr>
          <a:xfrm rot="10800000" flipV="1">
            <a:off x="9028491" y="2711398"/>
            <a:ext cx="292616" cy="630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正方形/長方形 62"/>
          <p:cNvSpPr/>
          <p:nvPr/>
        </p:nvSpPr>
        <p:spPr>
          <a:xfrm>
            <a:off x="6720583" y="2537888"/>
            <a:ext cx="1074020" cy="344128"/>
          </a:xfrm>
          <a:prstGeom prst="rect">
            <a:avLst/>
          </a:prstGeom>
          <a:ln/>
        </p:spPr>
        <p:style>
          <a:lnRef idx="0">
            <a:schemeClr val="accent6"/>
          </a:lnRef>
          <a:fillRef idx="3">
            <a:schemeClr val="accent6"/>
          </a:fillRef>
          <a:effectRef idx="3">
            <a:schemeClr val="accent6"/>
          </a:effectRef>
          <a:fontRef idx="minor">
            <a:schemeClr val="lt1"/>
          </a:fontRef>
        </p:style>
        <p:txBody>
          <a:bodyPr wrap="square" tIns="18000" bIns="18000">
            <a:spAutoFit/>
          </a:bodyPr>
          <a:lstStyle/>
          <a:p>
            <a:r>
              <a:rPr kumimoji="1" lang="ja-JP" altLang="en-US" sz="1000" dirty="0"/>
              <a:t>常習的欠勤、</a:t>
            </a:r>
            <a:endParaRPr kumimoji="1" lang="en-US" altLang="ja-JP" sz="1000" dirty="0"/>
          </a:p>
          <a:p>
            <a:r>
              <a:rPr kumimoji="1" lang="ja-JP" altLang="en-US" sz="1000" dirty="0"/>
              <a:t>転職率の低下</a:t>
            </a:r>
          </a:p>
        </p:txBody>
      </p:sp>
      <p:sp>
        <p:nvSpPr>
          <p:cNvPr id="66" name="正方形/長方形 65"/>
          <p:cNvSpPr/>
          <p:nvPr/>
        </p:nvSpPr>
        <p:spPr>
          <a:xfrm>
            <a:off x="7432077" y="1852035"/>
            <a:ext cx="2283479" cy="36933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algn="ctr"/>
            <a:r>
              <a:rPr kumimoji="1" lang="ja-JP" altLang="en-US" dirty="0"/>
              <a:t>業績向上</a:t>
            </a:r>
          </a:p>
        </p:txBody>
      </p:sp>
      <p:cxnSp>
        <p:nvCxnSpPr>
          <p:cNvPr id="67" name="コネクタ: カギ線 66"/>
          <p:cNvCxnSpPr>
            <a:cxnSpLocks/>
            <a:stCxn id="63" idx="0"/>
            <a:endCxn id="66" idx="2"/>
          </p:cNvCxnSpPr>
          <p:nvPr/>
        </p:nvCxnSpPr>
        <p:spPr>
          <a:xfrm rot="5400000" flipH="1" flipV="1">
            <a:off x="7757445" y="1721516"/>
            <a:ext cx="316521" cy="131622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コネクタ: カギ線 69"/>
          <p:cNvCxnSpPr>
            <a:cxnSpLocks/>
            <a:stCxn id="29" idx="1"/>
            <a:endCxn id="63" idx="2"/>
          </p:cNvCxnSpPr>
          <p:nvPr/>
        </p:nvCxnSpPr>
        <p:spPr>
          <a:xfrm rot="10800000">
            <a:off x="7257594" y="2882017"/>
            <a:ext cx="434189" cy="4863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正方形/長方形 137"/>
          <p:cNvSpPr/>
          <p:nvPr/>
        </p:nvSpPr>
        <p:spPr>
          <a:xfrm>
            <a:off x="6794695" y="4015349"/>
            <a:ext cx="1999818" cy="2181225"/>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p:nvSpPr>
        <p:spPr>
          <a:xfrm>
            <a:off x="8960694" y="5042356"/>
            <a:ext cx="1705989" cy="461665"/>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◆公平な報酬　</a:t>
            </a:r>
            <a:endParaRPr kumimoji="1" lang="en-US" altLang="ja-JP" sz="800" dirty="0"/>
          </a:p>
          <a:p>
            <a:r>
              <a:rPr kumimoji="1" lang="ja-JP" altLang="en-US" sz="800" dirty="0"/>
              <a:t>　・公平な結果、処遇、手続き</a:t>
            </a:r>
            <a:endParaRPr kumimoji="1" lang="en-US" altLang="ja-JP" sz="800" dirty="0"/>
          </a:p>
          <a:p>
            <a:pPr marL="85725" indent="-85725"/>
            <a:r>
              <a:rPr kumimoji="1" lang="ja-JP" altLang="en-US" sz="800" dirty="0"/>
              <a:t>　・地域標準的給与</a:t>
            </a:r>
          </a:p>
        </p:txBody>
      </p:sp>
      <p:sp>
        <p:nvSpPr>
          <p:cNvPr id="43" name="正方形/長方形 42"/>
          <p:cNvSpPr/>
          <p:nvPr/>
        </p:nvSpPr>
        <p:spPr>
          <a:xfrm>
            <a:off x="8950789" y="4262986"/>
            <a:ext cx="1720299" cy="707886"/>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◆やりがいを促す仕事の要素</a:t>
            </a:r>
            <a:endParaRPr kumimoji="1" lang="en-US" altLang="ja-JP" sz="800" dirty="0"/>
          </a:p>
          <a:p>
            <a:r>
              <a:rPr kumimoji="1" lang="ja-JP" altLang="en-US" sz="800" dirty="0"/>
              <a:t>　・活躍のチャンス</a:t>
            </a:r>
            <a:endParaRPr kumimoji="1" lang="en-US" altLang="ja-JP" sz="800" dirty="0"/>
          </a:p>
          <a:p>
            <a:pPr marL="85725" indent="-85725"/>
            <a:r>
              <a:rPr kumimoji="1" lang="ja-JP" altLang="en-US" sz="800" dirty="0"/>
              <a:t>　・内容の変化と自由</a:t>
            </a:r>
            <a:endParaRPr kumimoji="1" lang="en-US" altLang="ja-JP" sz="800" dirty="0"/>
          </a:p>
          <a:p>
            <a:r>
              <a:rPr kumimoji="1" lang="ja-JP" altLang="en-US" sz="800" dirty="0"/>
              <a:t>　・フィードバック</a:t>
            </a:r>
            <a:endParaRPr kumimoji="1" lang="en-US" altLang="ja-JP" sz="800" dirty="0"/>
          </a:p>
          <a:p>
            <a:r>
              <a:rPr kumimoji="1" lang="ja-JP" altLang="en-US" sz="800" dirty="0"/>
              <a:t>　・適度な仕事量</a:t>
            </a:r>
          </a:p>
        </p:txBody>
      </p:sp>
      <p:sp>
        <p:nvSpPr>
          <p:cNvPr id="44" name="正方形/長方形 43"/>
          <p:cNvSpPr/>
          <p:nvPr/>
        </p:nvSpPr>
        <p:spPr>
          <a:xfrm>
            <a:off x="8950789" y="5560768"/>
            <a:ext cx="1708237" cy="584775"/>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◆支援的な作業条件</a:t>
            </a:r>
            <a:endParaRPr kumimoji="1" lang="en-US" altLang="ja-JP" sz="800" dirty="0"/>
          </a:p>
          <a:p>
            <a:r>
              <a:rPr kumimoji="1" lang="ja-JP" altLang="en-US" sz="800" dirty="0"/>
              <a:t>　・安全で快適</a:t>
            </a:r>
            <a:endParaRPr kumimoji="1" lang="en-US" altLang="ja-JP" sz="800" dirty="0"/>
          </a:p>
          <a:p>
            <a:r>
              <a:rPr kumimoji="1" lang="ja-JP" altLang="en-US" sz="800" dirty="0"/>
              <a:t>　・清潔</a:t>
            </a:r>
            <a:endParaRPr kumimoji="1" lang="en-US" altLang="ja-JP" sz="800" dirty="0"/>
          </a:p>
          <a:p>
            <a:pPr marL="85725" indent="-85725"/>
            <a:r>
              <a:rPr kumimoji="1" lang="ja-JP" altLang="en-US" sz="800" dirty="0"/>
              <a:t>　・気障りになるものが少ない</a:t>
            </a:r>
          </a:p>
        </p:txBody>
      </p:sp>
      <p:sp>
        <p:nvSpPr>
          <p:cNvPr id="45" name="正方形/長方形 44"/>
          <p:cNvSpPr/>
          <p:nvPr/>
        </p:nvSpPr>
        <p:spPr>
          <a:xfrm>
            <a:off x="6946900" y="5445564"/>
            <a:ext cx="1719895" cy="707886"/>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◆職務特性</a:t>
            </a:r>
            <a:endParaRPr kumimoji="1" lang="en-US" altLang="ja-JP" sz="800" dirty="0"/>
          </a:p>
          <a:p>
            <a:r>
              <a:rPr kumimoji="1" lang="ja-JP" altLang="en-US" sz="800" dirty="0"/>
              <a:t>　・技能多様性</a:t>
            </a:r>
            <a:endParaRPr kumimoji="1" lang="en-US" altLang="ja-JP" sz="800" dirty="0"/>
          </a:p>
          <a:p>
            <a:r>
              <a:rPr kumimoji="1" lang="ja-JP" altLang="en-US" sz="800" dirty="0"/>
              <a:t>　・タスク完結性</a:t>
            </a:r>
            <a:endParaRPr kumimoji="1" lang="en-US" altLang="ja-JP" sz="800" dirty="0"/>
          </a:p>
          <a:p>
            <a:r>
              <a:rPr kumimoji="1" lang="ja-JP" altLang="en-US" sz="800" dirty="0"/>
              <a:t>　・タスク重要性</a:t>
            </a:r>
            <a:endParaRPr kumimoji="1" lang="en-US" altLang="ja-JP" sz="800" dirty="0"/>
          </a:p>
          <a:p>
            <a:r>
              <a:rPr kumimoji="1" lang="ja-JP" altLang="en-US" sz="800" dirty="0"/>
              <a:t>　・自律性</a:t>
            </a:r>
            <a:endParaRPr kumimoji="1" lang="en-US" altLang="ja-JP" sz="800" dirty="0"/>
          </a:p>
        </p:txBody>
      </p:sp>
      <p:sp>
        <p:nvSpPr>
          <p:cNvPr id="73" name="正方形/長方形 72"/>
          <p:cNvSpPr/>
          <p:nvPr/>
        </p:nvSpPr>
        <p:spPr>
          <a:xfrm>
            <a:off x="6949480" y="4798589"/>
            <a:ext cx="1717315" cy="584775"/>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◆店長の関わり方</a:t>
            </a:r>
            <a:endParaRPr kumimoji="1" lang="en-US" altLang="ja-JP" sz="800" dirty="0"/>
          </a:p>
          <a:p>
            <a:r>
              <a:rPr kumimoji="1" lang="ja-JP" altLang="en-US" sz="800" dirty="0"/>
              <a:t>　・リーダーシップ</a:t>
            </a:r>
            <a:endParaRPr kumimoji="1" lang="en-US" altLang="ja-JP" sz="800" dirty="0"/>
          </a:p>
          <a:p>
            <a:r>
              <a:rPr kumimoji="1" lang="ja-JP" altLang="en-US" sz="800" dirty="0"/>
              <a:t>　・承認、存在証明</a:t>
            </a:r>
            <a:endParaRPr kumimoji="1" lang="en-US" altLang="ja-JP" sz="800" dirty="0"/>
          </a:p>
          <a:p>
            <a:r>
              <a:rPr kumimoji="1" lang="ja-JP" altLang="en-US" sz="800" dirty="0"/>
              <a:t>　・育成、支援</a:t>
            </a:r>
            <a:endParaRPr kumimoji="1" lang="en-US" altLang="ja-JP" sz="800" dirty="0"/>
          </a:p>
        </p:txBody>
      </p:sp>
      <p:sp>
        <p:nvSpPr>
          <p:cNvPr id="74" name="正方形/長方形 73"/>
          <p:cNvSpPr/>
          <p:nvPr/>
        </p:nvSpPr>
        <p:spPr>
          <a:xfrm>
            <a:off x="6949349" y="4274724"/>
            <a:ext cx="1717446" cy="461665"/>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800" dirty="0"/>
              <a:t>◆コミュニケーション</a:t>
            </a:r>
            <a:endParaRPr kumimoji="1" lang="en-US" altLang="ja-JP" sz="800" dirty="0"/>
          </a:p>
          <a:p>
            <a:pPr marL="85725" indent="-85725"/>
            <a:r>
              <a:rPr kumimoji="1" lang="ja-JP" altLang="en-US" sz="800" dirty="0"/>
              <a:t>　・具体的目標とフィードバック</a:t>
            </a:r>
            <a:endParaRPr kumimoji="1" lang="en-US" altLang="ja-JP" sz="800" dirty="0"/>
          </a:p>
          <a:p>
            <a:pPr marL="85725" indent="-85725"/>
            <a:r>
              <a:rPr kumimoji="1" lang="ja-JP" altLang="en-US" sz="800" dirty="0"/>
              <a:t>　・友好的で、支援をしてくれる同僚</a:t>
            </a:r>
            <a:endParaRPr kumimoji="1" lang="en-US" altLang="ja-JP" sz="800" dirty="0"/>
          </a:p>
        </p:txBody>
      </p:sp>
      <p:cxnSp>
        <p:nvCxnSpPr>
          <p:cNvPr id="78" name="コネクタ: カギ線 77"/>
          <p:cNvCxnSpPr>
            <a:stCxn id="138" idx="0"/>
            <a:endCxn id="29" idx="2"/>
          </p:cNvCxnSpPr>
          <p:nvPr/>
        </p:nvCxnSpPr>
        <p:spPr>
          <a:xfrm rot="5400000" flipH="1" flipV="1">
            <a:off x="7930460" y="3417183"/>
            <a:ext cx="462310" cy="7340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コネクタ: カギ線 99"/>
          <p:cNvCxnSpPr>
            <a:stCxn id="28" idx="0"/>
            <a:endCxn id="66" idx="2"/>
          </p:cNvCxnSpPr>
          <p:nvPr/>
        </p:nvCxnSpPr>
        <p:spPr>
          <a:xfrm rot="5400000" flipH="1" flipV="1">
            <a:off x="8359343" y="2349341"/>
            <a:ext cx="342449" cy="865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2" name="グループ化 41"/>
          <p:cNvGrpSpPr/>
          <p:nvPr/>
        </p:nvGrpSpPr>
        <p:grpSpPr>
          <a:xfrm>
            <a:off x="8251937" y="2787158"/>
            <a:ext cx="507554" cy="497756"/>
            <a:chOff x="7553437" y="2787158"/>
            <a:chExt cx="507554" cy="497756"/>
          </a:xfrm>
        </p:grpSpPr>
        <p:sp>
          <p:nvSpPr>
            <p:cNvPr id="31" name="矢印: 環状 30"/>
            <p:cNvSpPr/>
            <p:nvPr/>
          </p:nvSpPr>
          <p:spPr>
            <a:xfrm rot="3168780">
              <a:off x="7572948" y="2796871"/>
              <a:ext cx="485775" cy="490311"/>
            </a:xfrm>
            <a:prstGeom prst="circularArrow">
              <a:avLst>
                <a:gd name="adj1" fmla="val 2365"/>
                <a:gd name="adj2" fmla="val 1180382"/>
                <a:gd name="adj3" fmla="val 19275582"/>
                <a:gd name="adj4" fmla="val 21226668"/>
                <a:gd name="adj5" fmla="val 98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8" name="矢印: 環状 167"/>
            <p:cNvSpPr/>
            <p:nvPr/>
          </p:nvSpPr>
          <p:spPr>
            <a:xfrm rot="12414686">
              <a:off x="7553437" y="2787158"/>
              <a:ext cx="485775" cy="490311"/>
            </a:xfrm>
            <a:prstGeom prst="circularArrow">
              <a:avLst>
                <a:gd name="adj1" fmla="val 2365"/>
                <a:gd name="adj2" fmla="val 1180382"/>
                <a:gd name="adj3" fmla="val 19275582"/>
                <a:gd name="adj4" fmla="val 21226668"/>
                <a:gd name="adj5" fmla="val 98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11" name="正方形/長方形 10"/>
          <p:cNvSpPr/>
          <p:nvPr/>
        </p:nvSpPr>
        <p:spPr>
          <a:xfrm>
            <a:off x="6283381" y="1616612"/>
            <a:ext cx="2646878" cy="276999"/>
          </a:xfrm>
          <a:prstGeom prst="rect">
            <a:avLst/>
          </a:prstGeom>
        </p:spPr>
        <p:txBody>
          <a:bodyPr wrap="none">
            <a:spAutoFit/>
          </a:bodyPr>
          <a:lstStyle/>
          <a:p>
            <a:pPr marL="92075" indent="-92075">
              <a:spcBef>
                <a:spcPts val="600"/>
              </a:spcBef>
            </a:pPr>
            <a:r>
              <a:rPr kumimoji="1" lang="ja-JP" altLang="en-US" sz="1200" b="1" dirty="0">
                <a:latin typeface="游ゴシック" panose="020B0400000000000000" pitchFamily="50" charset="-128"/>
                <a:ea typeface="游ゴシック" panose="020B0400000000000000" pitchFamily="50" charset="-128"/>
              </a:rPr>
              <a:t>＜業績向上への体系（イメージ）＞</a:t>
            </a:r>
            <a:endParaRPr kumimoji="1" lang="en-US" altLang="ja-JP" sz="1200" b="1" dirty="0">
              <a:latin typeface="游ゴシック" panose="020B0400000000000000" pitchFamily="50" charset="-128"/>
              <a:ea typeface="游ゴシック" panose="020B0400000000000000" pitchFamily="50" charset="-128"/>
            </a:endParaRPr>
          </a:p>
        </p:txBody>
      </p:sp>
      <p:sp>
        <p:nvSpPr>
          <p:cNvPr id="35" name="正方形/長方形 34"/>
          <p:cNvSpPr/>
          <p:nvPr/>
        </p:nvSpPr>
        <p:spPr>
          <a:xfrm>
            <a:off x="10089977" y="3172480"/>
            <a:ext cx="779417" cy="5078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kumimoji="1" lang="ja-JP" altLang="en-US" sz="900" dirty="0"/>
              <a:t>公平に扱われているという認識</a:t>
            </a:r>
          </a:p>
        </p:txBody>
      </p:sp>
      <p:sp>
        <p:nvSpPr>
          <p:cNvPr id="12" name="正方形/長方形 11"/>
          <p:cNvSpPr/>
          <p:nvPr/>
        </p:nvSpPr>
        <p:spPr>
          <a:xfrm>
            <a:off x="2195188" y="1271058"/>
            <a:ext cx="8138497" cy="261610"/>
          </a:xfrm>
          <a:prstGeom prst="rect">
            <a:avLst/>
          </a:prstGeom>
        </p:spPr>
        <p:txBody>
          <a:bodyPr wrap="square">
            <a:spAutoFit/>
          </a:bodyPr>
          <a:lstStyle/>
          <a:p>
            <a:pPr marL="265113" indent="-265113"/>
            <a:r>
              <a:rPr kumimoji="1" lang="ja-JP" altLang="en-US" sz="1100" dirty="0">
                <a:latin typeface="游ゴシック" panose="020B0400000000000000" pitchFamily="50" charset="-128"/>
                <a:ea typeface="游ゴシック" panose="020B0400000000000000" pitchFamily="50" charset="-128"/>
              </a:rPr>
              <a:t>･･･行動と態度を体系的に研究する学問。特に人が働く「組織」の領域を専門的に扱っている。</a:t>
            </a:r>
            <a:endParaRPr kumimoji="1" lang="en-US" altLang="ja-JP" sz="1100" dirty="0">
              <a:latin typeface="游ゴシック" panose="020B0400000000000000" pitchFamily="50" charset="-128"/>
              <a:ea typeface="游ゴシック" panose="020B0400000000000000" pitchFamily="50" charset="-128"/>
            </a:endParaRPr>
          </a:p>
        </p:txBody>
      </p:sp>
      <p:sp>
        <p:nvSpPr>
          <p:cNvPr id="24" name="正方形/長方形 23"/>
          <p:cNvSpPr/>
          <p:nvPr/>
        </p:nvSpPr>
        <p:spPr>
          <a:xfrm>
            <a:off x="6794694" y="4068706"/>
            <a:ext cx="1443024" cy="230832"/>
          </a:xfrm>
          <a:prstGeom prst="rect">
            <a:avLst/>
          </a:prstGeom>
        </p:spPr>
        <p:txBody>
          <a:bodyPr wrap="none">
            <a:spAutoFit/>
          </a:bodyPr>
          <a:lstStyle/>
          <a:p>
            <a:r>
              <a:rPr kumimoji="1" lang="ja-JP" altLang="en-US" sz="900" dirty="0"/>
              <a:t>＜個人の動機づけ要素＞</a:t>
            </a:r>
          </a:p>
        </p:txBody>
      </p:sp>
      <p:sp>
        <p:nvSpPr>
          <p:cNvPr id="50" name="正方形/長方形 49"/>
          <p:cNvSpPr/>
          <p:nvPr/>
        </p:nvSpPr>
        <p:spPr>
          <a:xfrm>
            <a:off x="8794884" y="4073197"/>
            <a:ext cx="1361270" cy="230832"/>
          </a:xfrm>
          <a:prstGeom prst="rect">
            <a:avLst/>
          </a:prstGeom>
        </p:spPr>
        <p:txBody>
          <a:bodyPr wrap="none">
            <a:spAutoFit/>
          </a:bodyPr>
          <a:lstStyle/>
          <a:p>
            <a:r>
              <a:rPr kumimoji="1" lang="ja-JP" altLang="en-US" sz="900" dirty="0"/>
              <a:t>＜職場・仕事のあり方＞</a:t>
            </a:r>
          </a:p>
        </p:txBody>
      </p:sp>
      <p:sp>
        <p:nvSpPr>
          <p:cNvPr id="51" name="正方形/長方形 50"/>
          <p:cNvSpPr/>
          <p:nvPr/>
        </p:nvSpPr>
        <p:spPr>
          <a:xfrm>
            <a:off x="8850167" y="4015349"/>
            <a:ext cx="1950617" cy="2181225"/>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1" idx="0"/>
            <a:endCxn id="29" idx="2"/>
          </p:cNvCxnSpPr>
          <p:nvPr/>
        </p:nvCxnSpPr>
        <p:spPr>
          <a:xfrm rot="16200000" flipV="1">
            <a:off x="8945897" y="3135769"/>
            <a:ext cx="462310" cy="12968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p:cNvCxnSpPr>
            <a:stCxn id="39" idx="3"/>
            <a:endCxn id="35" idx="3"/>
          </p:cNvCxnSpPr>
          <p:nvPr/>
        </p:nvCxnSpPr>
        <p:spPr>
          <a:xfrm flipV="1">
            <a:off x="10666683" y="3426396"/>
            <a:ext cx="202711" cy="1846793"/>
          </a:xfrm>
          <a:prstGeom prst="bentConnector3">
            <a:avLst>
              <a:gd name="adj1" fmla="val 21277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p:cNvSpPr/>
          <p:nvPr/>
        </p:nvSpPr>
        <p:spPr>
          <a:xfrm>
            <a:off x="635001" y="1516006"/>
            <a:ext cx="10896600" cy="4751444"/>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5" name="スライド番号プレースホルダー 14"/>
          <p:cNvSpPr>
            <a:spLocks noGrp="1"/>
          </p:cNvSpPr>
          <p:nvPr>
            <p:ph type="sldNum" sz="quarter" idx="12"/>
          </p:nvPr>
        </p:nvSpPr>
        <p:spPr/>
        <p:txBody>
          <a:bodyPr/>
          <a:lstStyle/>
          <a:p>
            <a:fld id="{D57F1E4F-1CFF-5643-939E-217C01CDF565}" type="slidenum">
              <a:rPr lang="en-US" smtClean="0"/>
              <a:pPr/>
              <a:t>13</a:t>
            </a:fld>
            <a:endParaRPr lang="en-US" dirty="0"/>
          </a:p>
        </p:txBody>
      </p:sp>
      <p:sp>
        <p:nvSpPr>
          <p:cNvPr id="13" name="正方形/長方形 12">
            <a:extLst>
              <a:ext uri="{FF2B5EF4-FFF2-40B4-BE49-F238E27FC236}">
                <a16:creationId xmlns:a16="http://schemas.microsoft.com/office/drawing/2014/main" id="{508D06AF-1069-4D67-884D-76C0FA20E1D5}"/>
              </a:ext>
            </a:extLst>
          </p:cNvPr>
          <p:cNvSpPr/>
          <p:nvPr/>
        </p:nvSpPr>
        <p:spPr>
          <a:xfrm>
            <a:off x="2195188" y="1110804"/>
            <a:ext cx="3970959" cy="230832"/>
          </a:xfrm>
          <a:prstGeom prst="rect">
            <a:avLst/>
          </a:prstGeom>
        </p:spPr>
        <p:txBody>
          <a:bodyPr wrap="none">
            <a:spAutoFit/>
          </a:bodyPr>
          <a:lstStyle/>
          <a:p>
            <a:r>
              <a:rPr kumimoji="1" lang="ja-JP" altLang="en-US" sz="900" dirty="0">
                <a:latin typeface="游ゴシック" panose="020B0400000000000000" pitchFamily="50" charset="-128"/>
                <a:ea typeface="游ゴシック" panose="020B0400000000000000" pitchFamily="50" charset="-128"/>
              </a:rPr>
              <a:t>スティーブン </a:t>
            </a:r>
            <a:r>
              <a:rPr kumimoji="1" lang="en-US" altLang="ja-JP" sz="900" dirty="0">
                <a:latin typeface="游ゴシック" panose="020B0400000000000000" pitchFamily="50" charset="-128"/>
                <a:ea typeface="游ゴシック" panose="020B0400000000000000" pitchFamily="50" charset="-128"/>
              </a:rPr>
              <a:t>P.</a:t>
            </a:r>
            <a:r>
              <a:rPr kumimoji="1" lang="ja-JP" altLang="en-US" sz="900" dirty="0">
                <a:latin typeface="游ゴシック" panose="020B0400000000000000" pitchFamily="50" charset="-128"/>
                <a:ea typeface="游ゴシック" panose="020B0400000000000000" pitchFamily="50" charset="-128"/>
              </a:rPr>
              <a:t>ロビンス  </a:t>
            </a:r>
            <a:r>
              <a:rPr kumimoji="1" lang="en-US" altLang="ja-JP" sz="900" dirty="0">
                <a:latin typeface="游ゴシック" panose="020B0400000000000000" pitchFamily="50" charset="-128"/>
                <a:ea typeface="游ゴシック" panose="020B0400000000000000" pitchFamily="50" charset="-128"/>
              </a:rPr>
              <a:t>『</a:t>
            </a:r>
            <a:r>
              <a:rPr kumimoji="1" lang="ja-JP" altLang="en-US" sz="900" dirty="0">
                <a:latin typeface="游ゴシック" panose="020B0400000000000000" pitchFamily="50" charset="-128"/>
                <a:ea typeface="游ゴシック" panose="020B0400000000000000" pitchFamily="50" charset="-128"/>
              </a:rPr>
              <a:t>組織行動のマネジメント</a:t>
            </a:r>
            <a:r>
              <a:rPr kumimoji="1" lang="en-US" altLang="ja-JP" sz="900" dirty="0">
                <a:latin typeface="游ゴシック" panose="020B0400000000000000" pitchFamily="50" charset="-128"/>
                <a:ea typeface="游ゴシック" panose="020B0400000000000000" pitchFamily="50" charset="-128"/>
              </a:rPr>
              <a:t>―</a:t>
            </a:r>
            <a:r>
              <a:rPr kumimoji="1" lang="ja-JP" altLang="en-US" sz="900" dirty="0">
                <a:latin typeface="游ゴシック" panose="020B0400000000000000" pitchFamily="50" charset="-128"/>
                <a:ea typeface="游ゴシック" panose="020B0400000000000000" pitchFamily="50" charset="-128"/>
              </a:rPr>
              <a:t>入門から実践へ</a:t>
            </a:r>
            <a:r>
              <a:rPr kumimoji="1" lang="en-US" altLang="ja-JP" sz="900" dirty="0">
                <a:latin typeface="游ゴシック" panose="020B0400000000000000" pitchFamily="50" charset="-128"/>
                <a:ea typeface="游ゴシック" panose="020B0400000000000000" pitchFamily="50" charset="-128"/>
              </a:rPr>
              <a:t>』</a:t>
            </a:r>
            <a:endParaRPr kumimoji="1" lang="ja-JP" altLang="en-US" sz="9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42869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参考：本診断の理論背景</a:t>
            </a:r>
            <a:r>
              <a:rPr lang="en-US" altLang="ja-JP" dirty="0"/>
              <a:t>-2</a:t>
            </a:r>
            <a:endParaRPr kumimoji="1" lang="ja-JP" altLang="en-US" dirty="0"/>
          </a:p>
        </p:txBody>
      </p:sp>
      <p:sp>
        <p:nvSpPr>
          <p:cNvPr id="3" name="吹き出し: 角を丸めた四角形 2"/>
          <p:cNvSpPr/>
          <p:nvPr/>
        </p:nvSpPr>
        <p:spPr>
          <a:xfrm>
            <a:off x="9867900" y="1617848"/>
            <a:ext cx="1738472" cy="4523237"/>
          </a:xfrm>
          <a:prstGeom prst="wedgeRoundRectCallout">
            <a:avLst>
              <a:gd name="adj1" fmla="val -38194"/>
              <a:gd name="adj2" fmla="val 12377"/>
              <a:gd name="adj3" fmla="val 16667"/>
            </a:avLst>
          </a:prstGeom>
        </p:spPr>
        <p:style>
          <a:lnRef idx="1">
            <a:schemeClr val="accent5"/>
          </a:lnRef>
          <a:fillRef idx="2">
            <a:schemeClr val="accent5"/>
          </a:fillRef>
          <a:effectRef idx="1">
            <a:schemeClr val="accent5"/>
          </a:effectRef>
          <a:fontRef idx="minor">
            <a:schemeClr val="dk1"/>
          </a:fontRef>
        </p:style>
        <p:txBody>
          <a:bodyPr lIns="0" rIns="0" rtlCol="0" anchor="ctr"/>
          <a:lstStyle/>
          <a:p>
            <a:r>
              <a:rPr kumimoji="1" lang="ja-JP" altLang="en-US" sz="1100" dirty="0">
                <a:latin typeface="游ゴシック Medium" panose="020B0500000000000000" pitchFamily="50" charset="-128"/>
                <a:ea typeface="游ゴシック Medium" panose="020B0500000000000000" pitchFamily="50" charset="-128"/>
              </a:rPr>
              <a:t>　業績への貢献を考える上では、個人の態度と行動について捉えるだけでなく、店舗として効果的なチーム作りがなされているか、また顧客対応文化（お客様視点の行動）ができているかといったことも捉える必要があります。</a:t>
            </a:r>
            <a:endParaRPr kumimoji="1" lang="en-US" altLang="ja-JP" sz="1100" dirty="0">
              <a:latin typeface="游ゴシック Medium" panose="020B0500000000000000" pitchFamily="50" charset="-128"/>
              <a:ea typeface="游ゴシック Medium" panose="020B0500000000000000" pitchFamily="50" charset="-128"/>
            </a:endParaRPr>
          </a:p>
          <a:p>
            <a:r>
              <a:rPr kumimoji="1" lang="ja-JP" altLang="en-US" sz="1100" dirty="0">
                <a:latin typeface="游ゴシック Medium" panose="020B0500000000000000" pitchFamily="50" charset="-128"/>
                <a:ea typeface="游ゴシック Medium" panose="020B0500000000000000" pitchFamily="50" charset="-128"/>
              </a:rPr>
              <a:t>　それぞれの構成要因と紐付けることで、どこに手を打つ必要があるかも判断できます。</a:t>
            </a:r>
          </a:p>
        </p:txBody>
      </p:sp>
      <p:sp>
        <p:nvSpPr>
          <p:cNvPr id="4" name="正方形/長方形 3"/>
          <p:cNvSpPr/>
          <p:nvPr/>
        </p:nvSpPr>
        <p:spPr>
          <a:xfrm>
            <a:off x="1819187" y="1617848"/>
            <a:ext cx="2031325" cy="276999"/>
          </a:xfrm>
          <a:prstGeom prst="rect">
            <a:avLst/>
          </a:prstGeom>
        </p:spPr>
        <p:txBody>
          <a:bodyPr wrap="none">
            <a:spAutoFit/>
          </a:bodyPr>
          <a:lstStyle/>
          <a:p>
            <a:pPr marL="92075" indent="-92075">
              <a:spcBef>
                <a:spcPts val="600"/>
              </a:spcBef>
            </a:pPr>
            <a:r>
              <a:rPr kumimoji="1" lang="ja-JP" altLang="en-US" sz="1200" b="1" dirty="0">
                <a:latin typeface="游ゴシック" panose="020B0400000000000000" pitchFamily="50" charset="-128"/>
                <a:ea typeface="游ゴシック" panose="020B0400000000000000" pitchFamily="50" charset="-128"/>
              </a:rPr>
              <a:t>＜効果的なチームモデル＞</a:t>
            </a:r>
            <a:endParaRPr kumimoji="1" lang="en-US" altLang="ja-JP" sz="1200" b="1" dirty="0">
              <a:latin typeface="游ゴシック" panose="020B0400000000000000" pitchFamily="50" charset="-128"/>
              <a:ea typeface="游ゴシック" panose="020B0400000000000000" pitchFamily="50" charset="-128"/>
            </a:endParaRPr>
          </a:p>
        </p:txBody>
      </p:sp>
      <p:sp>
        <p:nvSpPr>
          <p:cNvPr id="5" name="正方形/長方形 4"/>
          <p:cNvSpPr/>
          <p:nvPr/>
        </p:nvSpPr>
        <p:spPr>
          <a:xfrm>
            <a:off x="6237927" y="1683895"/>
            <a:ext cx="2031325" cy="276999"/>
          </a:xfrm>
          <a:prstGeom prst="rect">
            <a:avLst/>
          </a:prstGeom>
        </p:spPr>
        <p:txBody>
          <a:bodyPr wrap="none">
            <a:spAutoFit/>
          </a:bodyPr>
          <a:lstStyle/>
          <a:p>
            <a:pPr marL="92075" indent="-92075">
              <a:spcBef>
                <a:spcPts val="600"/>
              </a:spcBef>
            </a:pPr>
            <a:r>
              <a:rPr kumimoji="1" lang="ja-JP" altLang="en-US" sz="1200" b="1" dirty="0">
                <a:latin typeface="游ゴシック" panose="020B0400000000000000" pitchFamily="50" charset="-128"/>
                <a:ea typeface="游ゴシック" panose="020B0400000000000000" pitchFamily="50" charset="-128"/>
              </a:rPr>
              <a:t>＜顧客対応型文化の変数＞</a:t>
            </a:r>
            <a:endParaRPr kumimoji="1" lang="en-US" altLang="ja-JP" sz="1200" b="1" dirty="0">
              <a:latin typeface="游ゴシック" panose="020B0400000000000000" pitchFamily="50" charset="-128"/>
              <a:ea typeface="游ゴシック" panose="020B0400000000000000" pitchFamily="50" charset="-128"/>
            </a:endParaRPr>
          </a:p>
        </p:txBody>
      </p:sp>
      <p:sp>
        <p:nvSpPr>
          <p:cNvPr id="6" name="正方形/長方形 5"/>
          <p:cNvSpPr/>
          <p:nvPr/>
        </p:nvSpPr>
        <p:spPr>
          <a:xfrm>
            <a:off x="1041400" y="2722432"/>
            <a:ext cx="2241797" cy="2677656"/>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◆基盤</a:t>
            </a:r>
            <a:endParaRPr kumimoji="1" lang="en-US" altLang="ja-JP" sz="1050" dirty="0"/>
          </a:p>
          <a:p>
            <a:r>
              <a:rPr kumimoji="1" lang="ja-JP" altLang="en-US" sz="1050" dirty="0"/>
              <a:t>　・十分な資源</a:t>
            </a:r>
            <a:endParaRPr kumimoji="1" lang="en-US" altLang="ja-JP" sz="1050" dirty="0"/>
          </a:p>
          <a:p>
            <a:r>
              <a:rPr kumimoji="1" lang="ja-JP" altLang="en-US" sz="1050" dirty="0"/>
              <a:t>　　</a:t>
            </a:r>
            <a:r>
              <a:rPr kumimoji="1" lang="en-US" altLang="ja-JP" sz="1050" dirty="0"/>
              <a:t>-</a:t>
            </a:r>
            <a:r>
              <a:rPr kumimoji="1" lang="ja-JP" altLang="en-US" sz="1050" dirty="0"/>
              <a:t>　タイムリーな情報</a:t>
            </a:r>
            <a:endParaRPr kumimoji="1" lang="en-US" altLang="ja-JP" sz="1050" dirty="0"/>
          </a:p>
          <a:p>
            <a:r>
              <a:rPr kumimoji="1" lang="ja-JP" altLang="en-US" sz="1050" dirty="0"/>
              <a:t>　　</a:t>
            </a:r>
            <a:r>
              <a:rPr kumimoji="1" lang="en-US" altLang="ja-JP" sz="1050" dirty="0"/>
              <a:t>-</a:t>
            </a:r>
            <a:r>
              <a:rPr kumimoji="1" lang="ja-JP" altLang="en-US" sz="1050" dirty="0"/>
              <a:t>　適切な設備</a:t>
            </a:r>
            <a:endParaRPr kumimoji="1" lang="en-US" altLang="ja-JP" sz="1050" dirty="0"/>
          </a:p>
          <a:p>
            <a:r>
              <a:rPr kumimoji="1" lang="ja-JP" altLang="en-US" sz="1050" dirty="0"/>
              <a:t>　　</a:t>
            </a:r>
            <a:r>
              <a:rPr kumimoji="1" lang="en-US" altLang="ja-JP" sz="1050" dirty="0"/>
              <a:t>-</a:t>
            </a:r>
            <a:r>
              <a:rPr kumimoji="1" lang="ja-JP" altLang="en-US" sz="1050" dirty="0"/>
              <a:t>　十分な人員</a:t>
            </a:r>
            <a:endParaRPr kumimoji="1" lang="en-US" altLang="ja-JP" sz="1050" dirty="0"/>
          </a:p>
          <a:p>
            <a:r>
              <a:rPr kumimoji="1" lang="ja-JP" altLang="en-US" sz="1050" dirty="0"/>
              <a:t>　　</a:t>
            </a:r>
            <a:r>
              <a:rPr kumimoji="1" lang="en-US" altLang="ja-JP" sz="1050" dirty="0"/>
              <a:t>-</a:t>
            </a:r>
            <a:r>
              <a:rPr kumimoji="1" lang="ja-JP" altLang="en-US" sz="1050" dirty="0"/>
              <a:t>　チームに対する奨励</a:t>
            </a:r>
            <a:endParaRPr kumimoji="1" lang="en-US" altLang="ja-JP" sz="1050" dirty="0"/>
          </a:p>
          <a:p>
            <a:r>
              <a:rPr kumimoji="1" lang="ja-JP" altLang="en-US" sz="1050" dirty="0"/>
              <a:t>　　</a:t>
            </a:r>
            <a:r>
              <a:rPr kumimoji="1" lang="en-US" altLang="ja-JP" sz="1050" dirty="0"/>
              <a:t>-</a:t>
            </a:r>
            <a:r>
              <a:rPr kumimoji="1" lang="ja-JP" altLang="en-US" sz="1050" dirty="0"/>
              <a:t>　事務的な支援</a:t>
            </a:r>
            <a:endParaRPr kumimoji="1" lang="en-US" altLang="ja-JP" sz="1050" dirty="0"/>
          </a:p>
          <a:p>
            <a:r>
              <a:rPr kumimoji="1" lang="ja-JP" altLang="en-US" sz="1050" dirty="0"/>
              <a:t>　・効果的なリーダーシップ</a:t>
            </a:r>
            <a:endParaRPr kumimoji="1" lang="en-US" altLang="ja-JP" sz="1050" dirty="0"/>
          </a:p>
          <a:p>
            <a:r>
              <a:rPr kumimoji="1" lang="ja-JP" altLang="en-US" sz="1050" dirty="0"/>
              <a:t>　　</a:t>
            </a:r>
            <a:r>
              <a:rPr kumimoji="1" lang="en-US" altLang="ja-JP" sz="1050" dirty="0"/>
              <a:t>-</a:t>
            </a:r>
            <a:r>
              <a:rPr kumimoji="1" lang="ja-JP" altLang="en-US" sz="1050" dirty="0"/>
              <a:t>　リーダーシップの型</a:t>
            </a:r>
            <a:endParaRPr kumimoji="1" lang="en-US" altLang="ja-JP" sz="1050" dirty="0"/>
          </a:p>
          <a:p>
            <a:r>
              <a:rPr kumimoji="1" lang="ja-JP" altLang="en-US" sz="1050" dirty="0"/>
              <a:t>　・信頼関係のある環境</a:t>
            </a:r>
            <a:endParaRPr kumimoji="1" lang="en-US" altLang="ja-JP" sz="1050" dirty="0"/>
          </a:p>
          <a:p>
            <a:r>
              <a:rPr kumimoji="1" lang="ja-JP" altLang="en-US" sz="1050" dirty="0"/>
              <a:t>　　</a:t>
            </a:r>
            <a:r>
              <a:rPr kumimoji="1" lang="en-US" altLang="ja-JP" sz="1050" dirty="0"/>
              <a:t>-</a:t>
            </a:r>
            <a:r>
              <a:rPr kumimoji="1" lang="ja-JP" altLang="en-US" sz="1050" dirty="0"/>
              <a:t>　リーダーとメンバーの信頼関係</a:t>
            </a:r>
            <a:endParaRPr kumimoji="1" lang="en-US" altLang="ja-JP" sz="1050" dirty="0"/>
          </a:p>
          <a:p>
            <a:r>
              <a:rPr kumimoji="1" lang="ja-JP" altLang="en-US" sz="1050" dirty="0"/>
              <a:t>　　</a:t>
            </a:r>
            <a:r>
              <a:rPr kumimoji="1" lang="en-US" altLang="ja-JP" sz="1050" dirty="0"/>
              <a:t>-</a:t>
            </a:r>
            <a:r>
              <a:rPr kumimoji="1" lang="ja-JP" altLang="en-US" sz="1050" dirty="0"/>
              <a:t>　メンバー間の信頼関係</a:t>
            </a:r>
            <a:endParaRPr kumimoji="1" lang="en-US" altLang="ja-JP" sz="1050" dirty="0"/>
          </a:p>
          <a:p>
            <a:r>
              <a:rPr kumimoji="1" lang="ja-JP" altLang="en-US" sz="1050" dirty="0"/>
              <a:t>　・業績評価と報酬システム</a:t>
            </a:r>
            <a:endParaRPr kumimoji="1" lang="en-US" altLang="ja-JP" sz="1050" dirty="0"/>
          </a:p>
          <a:p>
            <a:r>
              <a:rPr kumimoji="1" lang="ja-JP" altLang="en-US" sz="1050" dirty="0"/>
              <a:t>　　</a:t>
            </a:r>
            <a:r>
              <a:rPr kumimoji="1" lang="en-US" altLang="ja-JP" sz="1050" dirty="0"/>
              <a:t>-</a:t>
            </a:r>
            <a:r>
              <a:rPr kumimoji="1" lang="ja-JP" altLang="en-US" sz="1050" dirty="0"/>
              <a:t>　集団ベースの評価</a:t>
            </a:r>
            <a:endParaRPr kumimoji="1" lang="en-US" altLang="ja-JP" sz="1050" dirty="0"/>
          </a:p>
          <a:p>
            <a:r>
              <a:rPr kumimoji="1" lang="ja-JP" altLang="en-US" sz="1050" dirty="0"/>
              <a:t>　　</a:t>
            </a:r>
            <a:r>
              <a:rPr kumimoji="1" lang="en-US" altLang="ja-JP" sz="1050" dirty="0"/>
              <a:t>-</a:t>
            </a:r>
            <a:r>
              <a:rPr kumimoji="1" lang="ja-JP" altLang="en-US" sz="1050" dirty="0"/>
              <a:t>　利益配分制度</a:t>
            </a:r>
            <a:endParaRPr kumimoji="1" lang="en-US" altLang="ja-JP" sz="1050" dirty="0"/>
          </a:p>
          <a:p>
            <a:r>
              <a:rPr kumimoji="1" lang="ja-JP" altLang="en-US" sz="1050" dirty="0"/>
              <a:t>　　</a:t>
            </a:r>
            <a:r>
              <a:rPr kumimoji="1" lang="en-US" altLang="ja-JP" sz="1050" dirty="0"/>
              <a:t>-</a:t>
            </a:r>
            <a:r>
              <a:rPr kumimoji="1" lang="ja-JP" altLang="en-US" sz="1050" dirty="0"/>
              <a:t>　グループへのインセンティブ</a:t>
            </a:r>
            <a:endParaRPr kumimoji="1" lang="en-US" altLang="ja-JP" sz="1050" dirty="0"/>
          </a:p>
        </p:txBody>
      </p:sp>
      <p:sp>
        <p:nvSpPr>
          <p:cNvPr id="7" name="正方形/長方形 6"/>
          <p:cNvSpPr/>
          <p:nvPr/>
        </p:nvSpPr>
        <p:spPr>
          <a:xfrm>
            <a:off x="3451128" y="2722432"/>
            <a:ext cx="1699395" cy="900246"/>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◆職務設計</a:t>
            </a:r>
            <a:endParaRPr kumimoji="1" lang="en-US" altLang="ja-JP" sz="1050" dirty="0"/>
          </a:p>
          <a:p>
            <a:r>
              <a:rPr kumimoji="1" lang="ja-JP" altLang="en-US" sz="1050" dirty="0"/>
              <a:t>　・技能多様性</a:t>
            </a:r>
            <a:endParaRPr kumimoji="1" lang="en-US" altLang="ja-JP" sz="1050" dirty="0"/>
          </a:p>
          <a:p>
            <a:r>
              <a:rPr kumimoji="1" lang="ja-JP" altLang="en-US" sz="1050" dirty="0"/>
              <a:t>　・タスク完結性</a:t>
            </a:r>
            <a:endParaRPr kumimoji="1" lang="en-US" altLang="ja-JP" sz="1050" dirty="0"/>
          </a:p>
          <a:p>
            <a:r>
              <a:rPr kumimoji="1" lang="ja-JP" altLang="en-US" sz="1050" dirty="0"/>
              <a:t>　・タスク重要性</a:t>
            </a:r>
            <a:endParaRPr kumimoji="1" lang="en-US" altLang="ja-JP" sz="1050" dirty="0"/>
          </a:p>
          <a:p>
            <a:r>
              <a:rPr kumimoji="1" lang="ja-JP" altLang="en-US" sz="1050" dirty="0"/>
              <a:t>　・自律性</a:t>
            </a:r>
            <a:endParaRPr kumimoji="1" lang="en-US" altLang="ja-JP" sz="1050" dirty="0"/>
          </a:p>
        </p:txBody>
      </p:sp>
      <p:sp>
        <p:nvSpPr>
          <p:cNvPr id="8" name="正方形/長方形 7"/>
          <p:cNvSpPr/>
          <p:nvPr/>
        </p:nvSpPr>
        <p:spPr>
          <a:xfrm>
            <a:off x="3451127" y="4855507"/>
            <a:ext cx="1699395" cy="1384995"/>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◆構成</a:t>
            </a:r>
            <a:endParaRPr kumimoji="1" lang="en-US" altLang="ja-JP" sz="1050" dirty="0"/>
          </a:p>
          <a:p>
            <a:r>
              <a:rPr kumimoji="1" lang="ja-JP" altLang="en-US" sz="1050" dirty="0"/>
              <a:t>　・メンバーの能力</a:t>
            </a:r>
            <a:endParaRPr kumimoji="1" lang="en-US" altLang="ja-JP" sz="1050" dirty="0"/>
          </a:p>
          <a:p>
            <a:r>
              <a:rPr kumimoji="1" lang="ja-JP" altLang="en-US" sz="1050" dirty="0"/>
              <a:t>　・パーソナリティ</a:t>
            </a:r>
            <a:endParaRPr kumimoji="1" lang="en-US" altLang="ja-JP" sz="1050" dirty="0"/>
          </a:p>
          <a:p>
            <a:r>
              <a:rPr kumimoji="1" lang="ja-JP" altLang="en-US" sz="1050" dirty="0"/>
              <a:t>　・役割の割り当て</a:t>
            </a:r>
            <a:endParaRPr kumimoji="1" lang="en-US" altLang="ja-JP" sz="1050" dirty="0"/>
          </a:p>
          <a:p>
            <a:r>
              <a:rPr kumimoji="1" lang="ja-JP" altLang="en-US" sz="1050" dirty="0"/>
              <a:t>　・多様性</a:t>
            </a:r>
            <a:endParaRPr kumimoji="1" lang="en-US" altLang="ja-JP" sz="1050" dirty="0"/>
          </a:p>
          <a:p>
            <a:r>
              <a:rPr kumimoji="1" lang="ja-JP" altLang="en-US" sz="1050" dirty="0"/>
              <a:t>　・チームの規模</a:t>
            </a:r>
            <a:endParaRPr kumimoji="1" lang="en-US" altLang="ja-JP" sz="1050" dirty="0"/>
          </a:p>
          <a:p>
            <a:r>
              <a:rPr kumimoji="1" lang="ja-JP" altLang="en-US" sz="1050" dirty="0"/>
              <a:t>　・メンバーの柔軟性</a:t>
            </a:r>
            <a:endParaRPr kumimoji="1" lang="en-US" altLang="ja-JP" sz="1050" dirty="0"/>
          </a:p>
          <a:p>
            <a:r>
              <a:rPr kumimoji="1" lang="ja-JP" altLang="en-US" sz="1050" dirty="0"/>
              <a:t>　・メンバーの嗜好</a:t>
            </a:r>
            <a:endParaRPr kumimoji="1" lang="en-US" altLang="ja-JP" sz="1050" dirty="0"/>
          </a:p>
        </p:txBody>
      </p:sp>
      <p:sp>
        <p:nvSpPr>
          <p:cNvPr id="9" name="正方形/長方形 8"/>
          <p:cNvSpPr/>
          <p:nvPr/>
        </p:nvSpPr>
        <p:spPr>
          <a:xfrm>
            <a:off x="3451128" y="3696477"/>
            <a:ext cx="1699395" cy="1061829"/>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◆プロセス</a:t>
            </a:r>
            <a:endParaRPr kumimoji="1" lang="en-US" altLang="ja-JP" sz="1050" dirty="0"/>
          </a:p>
          <a:p>
            <a:r>
              <a:rPr kumimoji="1" lang="ja-JP" altLang="en-US" sz="1050" dirty="0"/>
              <a:t>　・共通の目的</a:t>
            </a:r>
            <a:endParaRPr kumimoji="1" lang="en-US" altLang="ja-JP" sz="1050" dirty="0"/>
          </a:p>
          <a:p>
            <a:r>
              <a:rPr kumimoji="1" lang="ja-JP" altLang="en-US" sz="1050" dirty="0"/>
              <a:t>　・具体的な目標</a:t>
            </a:r>
            <a:endParaRPr kumimoji="1" lang="en-US" altLang="ja-JP" sz="1050" dirty="0"/>
          </a:p>
          <a:p>
            <a:r>
              <a:rPr kumimoji="1" lang="ja-JP" altLang="en-US" sz="1050" dirty="0"/>
              <a:t>　・チームの自信感</a:t>
            </a:r>
            <a:endParaRPr kumimoji="1" lang="en-US" altLang="ja-JP" sz="1050" dirty="0"/>
          </a:p>
          <a:p>
            <a:r>
              <a:rPr kumimoji="1" lang="ja-JP" altLang="en-US" sz="1050" dirty="0"/>
              <a:t>　・コンフリクトの程度</a:t>
            </a:r>
            <a:endParaRPr kumimoji="1" lang="en-US" altLang="ja-JP" sz="1050" dirty="0"/>
          </a:p>
          <a:p>
            <a:r>
              <a:rPr kumimoji="1" lang="ja-JP" altLang="en-US" sz="1050" dirty="0"/>
              <a:t>　・社会的手抜き</a:t>
            </a:r>
            <a:endParaRPr kumimoji="1" lang="en-US" altLang="ja-JP" sz="1050" dirty="0"/>
          </a:p>
        </p:txBody>
      </p:sp>
      <p:sp>
        <p:nvSpPr>
          <p:cNvPr id="10" name="正方形/長方形 9"/>
          <p:cNvSpPr/>
          <p:nvPr/>
        </p:nvSpPr>
        <p:spPr>
          <a:xfrm>
            <a:off x="5554194" y="2722432"/>
            <a:ext cx="1699395" cy="577081"/>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◆従業員のタイプ</a:t>
            </a:r>
            <a:endParaRPr kumimoji="1" lang="en-US" altLang="ja-JP" sz="1050" dirty="0"/>
          </a:p>
          <a:p>
            <a:pPr marL="177800" indent="-177800"/>
            <a:r>
              <a:rPr kumimoji="1" lang="ja-JP" altLang="en-US" sz="1050" dirty="0"/>
              <a:t>　・社交的で親しみやすい従業員の採用</a:t>
            </a:r>
            <a:endParaRPr kumimoji="1" lang="en-US" altLang="ja-JP" sz="1050" dirty="0"/>
          </a:p>
        </p:txBody>
      </p:sp>
      <p:sp>
        <p:nvSpPr>
          <p:cNvPr id="11" name="正方形/長方形 10"/>
          <p:cNvSpPr/>
          <p:nvPr/>
        </p:nvSpPr>
        <p:spPr>
          <a:xfrm>
            <a:off x="5565355" y="4368866"/>
            <a:ext cx="1699395" cy="577081"/>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◆公式化の度合いの低さ</a:t>
            </a:r>
            <a:endParaRPr kumimoji="1" lang="en-US" altLang="ja-JP" sz="1050" dirty="0"/>
          </a:p>
          <a:p>
            <a:pPr marL="177800" indent="-177800"/>
            <a:r>
              <a:rPr kumimoji="1" lang="ja-JP" altLang="en-US" sz="1050" dirty="0"/>
              <a:t>　・サービス担当者への裁量権の付与</a:t>
            </a:r>
            <a:endParaRPr kumimoji="1" lang="en-US" altLang="ja-JP" sz="1050" dirty="0"/>
          </a:p>
        </p:txBody>
      </p:sp>
      <p:sp>
        <p:nvSpPr>
          <p:cNvPr id="12" name="正方形/長方形 11"/>
          <p:cNvSpPr/>
          <p:nvPr/>
        </p:nvSpPr>
        <p:spPr>
          <a:xfrm>
            <a:off x="5552229" y="3462862"/>
            <a:ext cx="1699395" cy="738664"/>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◆権限委譲の幅広い活用</a:t>
            </a:r>
            <a:endParaRPr kumimoji="1" lang="en-US" altLang="ja-JP" sz="1050" dirty="0"/>
          </a:p>
          <a:p>
            <a:pPr marL="177800" indent="-177800"/>
            <a:r>
              <a:rPr kumimoji="1" lang="ja-JP" altLang="en-US" sz="1050" dirty="0"/>
              <a:t>　・顧客満足につながる行動に必要な意思決定を下す権利の付与</a:t>
            </a:r>
            <a:endParaRPr kumimoji="1" lang="en-US" altLang="ja-JP" sz="1050" dirty="0"/>
          </a:p>
        </p:txBody>
      </p:sp>
      <p:sp>
        <p:nvSpPr>
          <p:cNvPr id="13" name="正方形/長方形 12"/>
          <p:cNvSpPr/>
          <p:nvPr/>
        </p:nvSpPr>
        <p:spPr>
          <a:xfrm>
            <a:off x="7419343" y="3299513"/>
            <a:ext cx="1889545" cy="415498"/>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◆役割の明確化</a:t>
            </a:r>
            <a:endParaRPr kumimoji="1" lang="en-US" altLang="ja-JP" sz="1050" dirty="0"/>
          </a:p>
          <a:p>
            <a:r>
              <a:rPr kumimoji="1" lang="ja-JP" altLang="en-US" sz="1050" dirty="0"/>
              <a:t>　・何をすればよいかの明確さ</a:t>
            </a:r>
            <a:endParaRPr kumimoji="1" lang="en-US" altLang="ja-JP" sz="1050" dirty="0"/>
          </a:p>
        </p:txBody>
      </p:sp>
      <p:sp>
        <p:nvSpPr>
          <p:cNvPr id="14" name="正方形/長方形 13"/>
          <p:cNvSpPr/>
          <p:nvPr/>
        </p:nvSpPr>
        <p:spPr>
          <a:xfrm>
            <a:off x="7419689" y="2723977"/>
            <a:ext cx="2155819" cy="415498"/>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◆傾聴スキル</a:t>
            </a:r>
            <a:endParaRPr kumimoji="1" lang="en-US" altLang="ja-JP" sz="1050" dirty="0"/>
          </a:p>
          <a:p>
            <a:r>
              <a:rPr kumimoji="1" lang="ja-JP" altLang="en-US" sz="1050" dirty="0"/>
              <a:t>　・顧客に耳を傾け理解する能力</a:t>
            </a:r>
            <a:endParaRPr kumimoji="1" lang="en-US" altLang="ja-JP" sz="1050" dirty="0"/>
          </a:p>
        </p:txBody>
      </p:sp>
      <p:sp>
        <p:nvSpPr>
          <p:cNvPr id="15" name="正方形/長方形 14"/>
          <p:cNvSpPr/>
          <p:nvPr/>
        </p:nvSpPr>
        <p:spPr>
          <a:xfrm>
            <a:off x="7433675" y="3882130"/>
            <a:ext cx="1889545" cy="577081"/>
          </a:xfrm>
          <a:prstGeom prst="rect">
            <a:avLst/>
          </a:prstGeom>
          <a:ln w="3175"/>
        </p:spPr>
        <p:style>
          <a:lnRef idx="2">
            <a:schemeClr val="accent4"/>
          </a:lnRef>
          <a:fillRef idx="1">
            <a:schemeClr val="lt1"/>
          </a:fillRef>
          <a:effectRef idx="0">
            <a:schemeClr val="accent4"/>
          </a:effectRef>
          <a:fontRef idx="minor">
            <a:schemeClr val="dk1"/>
          </a:fontRef>
        </p:style>
        <p:txBody>
          <a:bodyPr wrap="square">
            <a:spAutoFit/>
          </a:bodyPr>
          <a:lstStyle/>
          <a:p>
            <a:r>
              <a:rPr kumimoji="1" lang="ja-JP" altLang="en-US" sz="1050" dirty="0"/>
              <a:t>◆組織市民行動</a:t>
            </a:r>
            <a:endParaRPr kumimoji="1" lang="en-US" altLang="ja-JP" sz="1050" dirty="0"/>
          </a:p>
          <a:p>
            <a:pPr marL="177800" indent="-177800"/>
            <a:r>
              <a:rPr kumimoji="1" lang="ja-JP" altLang="en-US" sz="1050" dirty="0"/>
              <a:t>　・与えられた業務範囲を超えた仕事にも取り組む心構え</a:t>
            </a:r>
            <a:endParaRPr kumimoji="1" lang="en-US" altLang="ja-JP" sz="1050" dirty="0"/>
          </a:p>
        </p:txBody>
      </p:sp>
      <p:sp>
        <p:nvSpPr>
          <p:cNvPr id="16" name="正方形/長方形 15"/>
          <p:cNvSpPr/>
          <p:nvPr/>
        </p:nvSpPr>
        <p:spPr>
          <a:xfrm>
            <a:off x="635001" y="1516006"/>
            <a:ext cx="9065180" cy="4751444"/>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7" name="正方形/長方形 16"/>
          <p:cNvSpPr/>
          <p:nvPr/>
        </p:nvSpPr>
        <p:spPr>
          <a:xfrm>
            <a:off x="1041400" y="1960894"/>
            <a:ext cx="4109121" cy="600164"/>
          </a:xfrm>
          <a:prstGeom prst="rect">
            <a:avLst/>
          </a:prstGeom>
          <a:solidFill>
            <a:schemeClr val="accent1">
              <a:lumMod val="20000"/>
              <a:lumOff val="80000"/>
            </a:schemeClr>
          </a:solidFill>
        </p:spPr>
        <p:txBody>
          <a:bodyPr wrap="square">
            <a:noAutofit/>
          </a:bodyPr>
          <a:lstStyle/>
          <a:p>
            <a:r>
              <a:rPr kumimoji="1" lang="ja-JP" altLang="en-US" sz="1100" b="1" dirty="0"/>
              <a:t>個人より高い業績を上げる</a:t>
            </a:r>
            <a:endParaRPr kumimoji="1" lang="en-US" altLang="ja-JP" sz="1100" b="1" dirty="0"/>
          </a:p>
          <a:p>
            <a:r>
              <a:rPr kumimoji="1" lang="ja-JP" altLang="en-US" sz="1100" b="1" dirty="0"/>
              <a:t>状況の変化に柔軟かつ迅速に対応できる</a:t>
            </a:r>
            <a:endParaRPr kumimoji="1" lang="en-US" altLang="ja-JP" sz="1100" b="1" dirty="0"/>
          </a:p>
          <a:p>
            <a:r>
              <a:rPr kumimoji="1" lang="ja-JP" altLang="en-US" sz="1100" b="1" dirty="0"/>
              <a:t>動機づけの効力、従業員の意欲を向上させる</a:t>
            </a:r>
          </a:p>
        </p:txBody>
      </p:sp>
      <p:sp>
        <p:nvSpPr>
          <p:cNvPr id="18" name="正方形/長方形 17"/>
          <p:cNvSpPr/>
          <p:nvPr/>
        </p:nvSpPr>
        <p:spPr>
          <a:xfrm>
            <a:off x="5552230" y="1960894"/>
            <a:ext cx="4023278" cy="601499"/>
          </a:xfrm>
          <a:prstGeom prst="rect">
            <a:avLst/>
          </a:prstGeom>
          <a:solidFill>
            <a:schemeClr val="accent1">
              <a:lumMod val="20000"/>
              <a:lumOff val="80000"/>
            </a:schemeClr>
          </a:solidFill>
        </p:spPr>
        <p:txBody>
          <a:bodyPr wrap="none" anchor="ctr">
            <a:noAutofit/>
          </a:bodyPr>
          <a:lstStyle/>
          <a:p>
            <a:r>
              <a:rPr kumimoji="1" lang="ja-JP" altLang="en-US" sz="1100" b="1" dirty="0"/>
              <a:t>顧客ロイヤルティや長期的な収益へ寄与</a:t>
            </a:r>
          </a:p>
        </p:txBody>
      </p:sp>
      <p:sp>
        <p:nvSpPr>
          <p:cNvPr id="19" name="スライド番号プレースホルダー 18"/>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680931869"/>
      </p:ext>
    </p:extLst>
  </p:cSld>
  <p:clrMapOvr>
    <a:masterClrMapping/>
  </p:clrMapOvr>
</p:sld>
</file>

<file path=ppt/theme/theme1.xml><?xml version="1.0" encoding="utf-8"?>
<a:theme xmlns:a="http://schemas.openxmlformats.org/drawingml/2006/main" name="レトロスペクト">
  <a:themeElements>
    <a:clrScheme name="レトロスペクト">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TM02900769[[fn=レトロスペクト]]</Template>
  <TotalTime>10420</TotalTime>
  <Words>2063</Words>
  <Application>Microsoft Office PowerPoint</Application>
  <PresentationFormat>ワイド画面</PresentationFormat>
  <Paragraphs>262</Paragraphs>
  <Slides>14</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Meiryo UI</vt:lpstr>
      <vt:lpstr>ＭＳ Ｐゴシック</vt:lpstr>
      <vt:lpstr>ＭＳ ゴシック</vt:lpstr>
      <vt:lpstr>游ゴシック</vt:lpstr>
      <vt:lpstr>游ゴシック Medium</vt:lpstr>
      <vt:lpstr>Calibri</vt:lpstr>
      <vt:lpstr>Calibri Light</vt:lpstr>
      <vt:lpstr>レトロスペクト</vt:lpstr>
      <vt:lpstr>フードサービス業 　　店舗・組織診断</vt:lpstr>
      <vt:lpstr>はじめに</vt:lpstr>
      <vt:lpstr>診断のコンセプト</vt:lpstr>
      <vt:lpstr>診断の全体像</vt:lpstr>
      <vt:lpstr>実施対象者</vt:lpstr>
      <vt:lpstr>診断のコンセプトと設問体系_抜粋</vt:lpstr>
      <vt:lpstr>アンケートサンプル</vt:lpstr>
      <vt:lpstr>診断のアウトプット</vt:lpstr>
      <vt:lpstr>レポートサンプル</vt:lpstr>
      <vt:lpstr>レポートサンプル</vt:lpstr>
      <vt:lpstr>レポートサンプル</vt:lpstr>
      <vt:lpstr>レポートサンプル</vt:lpstr>
      <vt:lpstr>参考：本診断の理論背景-1</vt:lpstr>
      <vt:lpstr>参考：本診断の理論背景-2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フードサービス業 組織活性度診断</dc:title>
  <dc:creator>齋藤 康人</dc:creator>
  <cp:lastModifiedBy>齋藤 康人</cp:lastModifiedBy>
  <cp:revision>134</cp:revision>
  <cp:lastPrinted>2017-07-13T03:48:25Z</cp:lastPrinted>
  <dcterms:created xsi:type="dcterms:W3CDTF">2017-05-19T00:39:15Z</dcterms:created>
  <dcterms:modified xsi:type="dcterms:W3CDTF">2023-11-21T02:31:33Z</dcterms:modified>
</cp:coreProperties>
</file>